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 : Titre</a:t>
            </a:r>
          </a:p>
          <a:p/>
          <a:p>
            <a:r>
              <a:t>Bienvenue dans cette présentation sur le CI/CD, Docker et les pipelines MLOps.</a:t>
            </a:r>
          </a:p>
          <a:p/>
          <a:p>
            <a:r>
              <a:t>CONTEXTE :</a:t>
            </a:r>
          </a:p>
          <a:p>
            <a:r>
              <a:t>Cette présentation est basée sur l'article de Kaan Boke Ph.D. publié sur Heartbeat (Comet ML) :</a:t>
            </a:r>
          </a:p>
          <a:p>
            <a:r>
              <a:t>"Create an MLOps Pipeline With GitHub and Docker Hub in Minutes".</a:t>
            </a:r>
          </a:p>
          <a:p/>
          <a:p>
            <a:r>
              <a:t>OBJECTIF DE LA PRÉSENTATION :</a:t>
            </a:r>
          </a:p>
          <a:p>
            <a:r>
              <a:t>Vous allez comprendre comment passer d'un simple code Python sur votre machine</a:t>
            </a:r>
          </a:p>
          <a:p>
            <a:r>
              <a:t>à une application conteneurisée, testée automatiquement et déployée dans le Cloud.</a:t>
            </a:r>
          </a:p>
          <a:p/>
          <a:p>
            <a:r>
              <a:t>Les 4 grandes étapes sont résumées dans les blocs en bas :</a:t>
            </a:r>
          </a:p>
          <a:p>
            <a:r>
              <a:t>1. CODE : vous écrivez votre application (Python/Flask) et la versionnez sur GitHub</a:t>
            </a:r>
          </a:p>
          <a:p>
            <a:r>
              <a:t>2. CI : GitHub Actions exécute automatiquement le formatage, le linting et les tests</a:t>
            </a:r>
          </a:p>
          <a:p>
            <a:r>
              <a:t>3. DOCKER : si les tests passent, une image Docker est construite</a:t>
            </a:r>
          </a:p>
          <a:p>
            <a:r>
              <a:t>4. CLOUD : l'image est poussée sur Docker Hub (ou AWS ECR) pour le déploiement</a:t>
            </a:r>
          </a:p>
          <a:p/>
          <a:p>
            <a:r>
              <a:t>PRÉ-REQUIS POUR LE PUBLIC :</a:t>
            </a:r>
          </a:p>
          <a:p>
            <a:r>
              <a:t>- Connaissances de base en Python</a:t>
            </a:r>
          </a:p>
          <a:p>
            <a:r>
              <a:t>- Notions de Git (commit, push, branch)</a:t>
            </a:r>
          </a:p>
          <a:p>
            <a:r>
              <a:t>- Aucune connaissance préalable de Docker ou CI/CD requise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2 : Sommaire</a:t>
            </a:r>
          </a:p>
          <a:p/>
          <a:p>
            <a:r>
              <a:t>Cette présentation couvre 21 slides organisées en grands blocs :</a:t>
            </a:r>
          </a:p>
          <a:p/>
          <a:p>
            <a:r>
              <a:t>BLOC 1 (bleu) — Docker : slides 01 à 04</a:t>
            </a:r>
          </a:p>
          <a:p>
            <a:r>
              <a:t>On part du problème concret ("ça marche sur ma machine") pour expliquer Docker,</a:t>
            </a:r>
          </a:p>
          <a:p>
            <a:r>
              <a:t>le Dockerfile, les layers et le .dockerignore.</a:t>
            </a:r>
          </a:p>
          <a:p/>
          <a:p>
            <a:r>
              <a:t>BLOC 2 (vert) — CI/CD : slides 05 à 07</a:t>
            </a:r>
          </a:p>
          <a:p>
            <a:r>
              <a:t>On explique les concepts de CI/CD avec une slide rédigée puis un schéma.</a:t>
            </a:r>
          </a:p>
          <a:p>
            <a:r>
              <a:t>On définit précisément Black (formateur) et Pylint (linter).</a:t>
            </a:r>
          </a:p>
          <a:p/>
          <a:p>
            <a:r>
              <a:t>BLOC 3 (orange) — GitHub Actions &amp; Projet : slides 08 à 12</a:t>
            </a:r>
          </a:p>
          <a:p>
            <a:r>
              <a:t>On détaille comment paramétrer le workflow YAML, configurer les secrets,</a:t>
            </a:r>
          </a:p>
          <a:p>
            <a:r>
              <a:t>et on présente l'application Flask de prédiction cardiaque.</a:t>
            </a:r>
          </a:p>
          <a:p/>
          <a:p>
            <a:r>
              <a:t>BLOC 4 (violet) — Pipelines &amp; Cloud : slides 13 à 21</a:t>
            </a:r>
          </a:p>
          <a:p>
            <a:r>
              <a:t>Les pipelines CI et CD décortiqués, AWS ECR/ECS, comparaison,</a:t>
            </a:r>
          </a:p>
          <a:p>
            <a:r>
              <a:t>guide pratique et monitoring avec Arize.</a:t>
            </a:r>
          </a:p>
          <a:p/>
          <a:p>
            <a:r>
              <a:t>CONSEIL : Suivez les numéros pour ne rien manquer. Chaque slide</a:t>
            </a:r>
          </a:p>
          <a:p>
            <a:r>
              <a:t>construit sur la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3 : Le problème</a:t>
            </a:r>
          </a:p>
          <a:p/>
          <a:p>
            <a:r>
              <a:t>C'EST QUOI LE PROBLÈME ?</a:t>
            </a:r>
          </a:p>
          <a:p>
            <a:r>
              <a:t>Quand plusieurs développeurs travaillent sur un projet, chacun a un environnement</a:t>
            </a:r>
          </a:p>
          <a:p>
            <a:r>
              <a:t>différent : versions de Python, de librairies, de système d'exploitation.</a:t>
            </a:r>
          </a:p>
          <a:p>
            <a:r>
              <a:t>Résultat : le code qui marche chez l'un peut planter chez l'autre ou en production.</a:t>
            </a:r>
          </a:p>
          <a:p/>
          <a:p>
            <a:r>
              <a:t>L'EXPRESSION CÉLÈBRE :</a:t>
            </a:r>
          </a:p>
          <a:p>
            <a:r>
              <a:t>"Ça marche sur ma machine !" est la phrase la plus redoutée en développement.</a:t>
            </a:r>
          </a:p>
          <a:p>
            <a:r>
              <a:t>Elle signifie qu'un bug est spécifique à un environnement, ce qui est un cauchemar à déboguer.</a:t>
            </a:r>
          </a:p>
          <a:p/>
          <a:p>
            <a:r>
              <a:t>LA SOLUTION — DOCKER :</a:t>
            </a:r>
          </a:p>
          <a:p>
            <a:r>
              <a:t>Docker empaquète l'application ET son environnement dans un "container".</a:t>
            </a:r>
          </a:p>
          <a:p>
            <a:r>
              <a:t>Ce container est IDENTIQUE partout : sur votre PC, celui de votre collègue,</a:t>
            </a:r>
          </a:p>
          <a:p>
            <a:r>
              <a:t>ou sur le serveur de production AWS.</a:t>
            </a:r>
          </a:p>
          <a:p/>
          <a:p>
            <a:r>
              <a:t>LA SOLUTION — CI/CD :</a:t>
            </a:r>
          </a:p>
          <a:p>
            <a:r>
              <a:t>Le CI/CD ajoute une couche d'automatisation : à chaque modification du code,</a:t>
            </a:r>
          </a:p>
          <a:p>
            <a:r>
              <a:t>des tests sont exécutés automatiquement AVANT le déploiement.</a:t>
            </a:r>
          </a:p>
          <a:p>
            <a:r>
              <a:t>Si un test échoue, le déploiement est bloqué → pas de bug en production.</a:t>
            </a:r>
          </a:p>
          <a:p/>
          <a:p>
            <a:r>
              <a:t>CE QUE L'UTILISATEUR DOIT CRÉER :</a:t>
            </a:r>
          </a:p>
          <a:p>
            <a:r>
              <a:t>→ Rien à cette étape. C'est la compréhension du problème.</a:t>
            </a:r>
          </a:p>
          <a:p>
            <a:r>
              <a:t>→ Vérifiez que Docker Desktop est installé sur votre machine (docker --version).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4 : Les fondamentaux Docker</a:t>
            </a:r>
          </a:p>
          <a:p/>
          <a:p>
            <a:r>
              <a:t>LES 4 CONCEPTS ESSENTIELS :</a:t>
            </a:r>
          </a:p>
          <a:p/>
          <a:p>
            <a:r>
              <a:t>1. DOCKERFILE (recette de cuisine) :</a:t>
            </a:r>
          </a:p>
          <a:p>
            <a:r>
              <a:t>   C'est un fichier texte que VOUS créez dans votre projet.</a:t>
            </a:r>
          </a:p>
          <a:p>
            <a:r>
              <a:t>   Il contient les instructions pas à pas pour construire votre image.</a:t>
            </a:r>
          </a:p>
          <a:p>
            <a:r>
              <a:t>   Exemple : "prends Python 3.10, copie mes fichiers, installe mes librairies".</a:t>
            </a:r>
          </a:p>
          <a:p>
            <a:r>
              <a:t>   → À CRÉER PAR L'UTILISATEUR : un fichier nommé exactement "Dockerfile" (sans extension)</a:t>
            </a:r>
          </a:p>
          <a:p>
            <a:r>
              <a:t>     à la racine de votre projet.</a:t>
            </a:r>
          </a:p>
          <a:p/>
          <a:p>
            <a:r>
              <a:t>2. IMAGE (plat congelé) :</a:t>
            </a:r>
          </a:p>
          <a:p>
            <a:r>
              <a:t>   C'est le résultat de la commande "docker build".</a:t>
            </a:r>
          </a:p>
          <a:p>
            <a:r>
              <a:t>   L'image est IMMUTABLE : une fois créée, elle ne change plus.</a:t>
            </a:r>
          </a:p>
          <a:p>
            <a:r>
              <a:t>   Elle contient votre code + toutes les dépendances + le système de base.</a:t>
            </a:r>
          </a:p>
          <a:p>
            <a:r>
              <a:t>   → CRÉÉE AUTOMATIQUEMENT par la commande docker build.</a:t>
            </a:r>
          </a:p>
          <a:p/>
          <a:p>
            <a:r>
              <a:t>3. CONTAINER (plat servi) :</a:t>
            </a:r>
          </a:p>
          <a:p>
            <a:r>
              <a:t>   C'est une instance EN COURS D'EXÉCUTION d'une image.</a:t>
            </a:r>
          </a:p>
          <a:p>
            <a:r>
              <a:t>   Vous pouvez lancer plusieurs containers à partir de la même image.</a:t>
            </a:r>
          </a:p>
          <a:p>
            <a:r>
              <a:t>   → CRÉÉ AUTOMATIQUEMENT par la commande docker run.</a:t>
            </a:r>
          </a:p>
          <a:p/>
          <a:p>
            <a:r>
              <a:t>4. REGISTRY (supermarché) :</a:t>
            </a:r>
          </a:p>
          <a:p>
            <a:r>
              <a:t>   C'est le serveur distant qui stocke vos images pour les partager.</a:t>
            </a:r>
          </a:p>
          <a:p>
            <a:r>
              <a:t>   Docker Hub est le registry public par défaut. AWS ECR est le registry privé d'Amazon.</a:t>
            </a:r>
          </a:p>
          <a:p>
            <a:r>
              <a:t>   → À CRÉER PAR L'UTILISATEUR : un compte sur hub.docker.com</a:t>
            </a:r>
          </a:p>
          <a:p>
            <a:r>
              <a:t>     et un repository (ex: "mon-username/mon-app").</a:t>
            </a:r>
          </a:p>
          <a:p/>
          <a:p>
            <a:r>
              <a:t>COMMANDES CLÉS À RETENIR :</a:t>
            </a:r>
          </a:p>
          <a:p>
            <a:r>
              <a:t>  docker build -t user/app:v1 .        → construit l'image</a:t>
            </a:r>
          </a:p>
          <a:p>
            <a:r>
              <a:t>  docker run -p 5000:5000 user/app:v1  → lance le container</a:t>
            </a:r>
          </a:p>
          <a:p>
            <a:r>
              <a:t>  docker push user/app:v1              → envoie sur Docker 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5 : Le Dockerfile expliqué</a:t>
            </a:r>
          </a:p>
          <a:p/>
          <a:p>
            <a:r>
              <a:t>CE QUE L'UTILISATEUR DOIT CRÉER :</a:t>
            </a:r>
          </a:p>
          <a:p>
            <a:r>
              <a:t>→ Un fichier nommé "Dockerfile" (sans extension, avec un D majuscule) à la racine du projet.</a:t>
            </a:r>
          </a:p>
          <a:p/>
          <a:p>
            <a:r>
              <a:t>EXPLICATION LIGNE PAR LIGNE :</a:t>
            </a:r>
          </a:p>
          <a:p/>
          <a:p>
            <a:r>
              <a:t>FROM python:3.10-slim</a:t>
            </a:r>
          </a:p>
          <a:p>
            <a:r>
              <a:t>  - Choisit l'image de base depuis Docker Hub.</a:t>
            </a:r>
          </a:p>
          <a:p>
            <a:r>
              <a:t>  - "python:3.10-slim" est une version allégée (~150 Mo au lieu de ~900 Mo).</a:t>
            </a:r>
          </a:p>
          <a:p>
            <a:r>
              <a:t>  - La version "slim" contient Python + les outils essentiels, sans les extras.</a:t>
            </a:r>
          </a:p>
          <a:p>
            <a:r>
              <a:t>  - Analogie : c'est choisir le modèle de base de votre voiture avant de la personnaliser.</a:t>
            </a:r>
          </a:p>
          <a:p/>
          <a:p>
            <a:r>
              <a:t>WORKDIR /app</a:t>
            </a:r>
          </a:p>
          <a:p>
            <a:r>
              <a:t>  - Crée le dossier /app dans le container et s'y positionne.</a:t>
            </a:r>
          </a:p>
          <a:p>
            <a:r>
              <a:t>  - Toutes les commandes suivantes s'exécuteront dans /app.</a:t>
            </a:r>
          </a:p>
          <a:p>
            <a:r>
              <a:t>  - Équivalent de "mkdir /app &amp;&amp; cd /app".</a:t>
            </a:r>
          </a:p>
          <a:p/>
          <a:p>
            <a:r>
              <a:t>COPY . /app/</a:t>
            </a:r>
          </a:p>
          <a:p>
            <a:r>
              <a:t>  - Copie TOUS les fichiers de votre projet dans le container.</a:t>
            </a:r>
          </a:p>
          <a:p>
            <a:r>
              <a:t>  - Le "." désigne le dossier courant (là où se trouve le Dockerfile).</a:t>
            </a:r>
          </a:p>
          <a:p>
            <a:r>
              <a:t>  - Les fichiers listés dans .dockerignore sont EXCLUS de la copie.</a:t>
            </a:r>
          </a:p>
          <a:p/>
          <a:p>
            <a:r>
              <a:t>RUN pip install --no-cache-dir -r requirements.txt</a:t>
            </a:r>
          </a:p>
          <a:p>
            <a:r>
              <a:t>  - S'exécute PENDANT la construction de l'image (pas au démarrage).</a:t>
            </a:r>
          </a:p>
          <a:p>
            <a:r>
              <a:t>  - --no-cache-dir : n'enregistre pas le cache pip → image plus légère.</a:t>
            </a:r>
          </a:p>
          <a:p>
            <a:r>
              <a:t>  - Installe toutes les librairies listées dans requirements.txt.</a:t>
            </a:r>
          </a:p>
          <a:p/>
          <a:p>
            <a:r>
              <a:t>CMD ["python", "app.py"]</a:t>
            </a:r>
          </a:p>
          <a:p>
            <a:r>
              <a:t>  - S'exécute QUAND le container démarre (pas pendant le build).</a:t>
            </a:r>
          </a:p>
          <a:p>
            <a:r>
              <a:t>  - Lance votre application Flask.</a:t>
            </a:r>
          </a:p>
          <a:p>
            <a:r>
              <a:t>  - IMPORTANT : RUN = pendant le build, CMD = au démarrage.</a:t>
            </a:r>
          </a:p>
          <a:p/>
          <a:p>
            <a:r>
              <a:t>ATTENTION : host="0.0.0.0" dans app.py est ESSENTIEL pour Docker.</a:t>
            </a:r>
          </a:p>
          <a:p>
            <a:r>
              <a:t>Si vous utilisez "127.0.0.1" ou "localhost", le serveur Flask ne sera pas</a:t>
            </a:r>
          </a:p>
          <a:p>
            <a:r>
              <a:t>accessible depuis l'extérieur du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6 : Layers &amp; .dockerignore</a:t>
            </a:r>
          </a:p>
          <a:p/>
          <a:p>
            <a:r>
              <a:t>LES LAYERS (COUCHES) DOCKER :</a:t>
            </a:r>
          </a:p>
          <a:p>
            <a:r>
              <a:t>Chaque instruction du Dockerfile crée une "couche" (layer) dans l'image.</a:t>
            </a:r>
          </a:p>
          <a:p>
            <a:r>
              <a:t>Ces couches sont empilées les unes sur les autres et mises en CACHE.</a:t>
            </a:r>
          </a:p>
          <a:p/>
          <a:p>
            <a:r>
              <a:t>Avantage du cache :</a:t>
            </a:r>
          </a:p>
          <a:p>
            <a:r>
              <a:t>- Si vous modifiez uniquement app.py, Docker ne reconstruit que les layers</a:t>
            </a:r>
          </a:p>
          <a:p>
            <a:r>
              <a:t>  à partir de COPY (layer 2) et au-dessus.</a:t>
            </a:r>
          </a:p>
          <a:p>
            <a:r>
              <a:t>- Les layers 0 (FROM) et 1 (WORKDIR) sont réutilisées → build beaucoup plus rapide.</a:t>
            </a:r>
          </a:p>
          <a:p>
            <a:r>
              <a:t>- C'est pourquoi l'ordre des instructions dans le Dockerfile est IMPORTANT :</a:t>
            </a:r>
          </a:p>
          <a:p>
            <a:r>
              <a:t>  mettez les éléments qui changent rarement en haut (FROM, WORKDIR, RUN pip install)</a:t>
            </a:r>
          </a:p>
          <a:p>
            <a:r>
              <a:t>  et ceux qui changent souvent en bas (COPY du code source).</a:t>
            </a:r>
          </a:p>
          <a:p/>
          <a:p>
            <a:r>
              <a:t>CE QUE L'UTILISATEUR DOIT CRÉER :</a:t>
            </a:r>
          </a:p>
          <a:p>
            <a:r>
              <a:t>→ Un fichier ".dockerignore" à la racine du projet (même emplacement que le Dockerfile).</a:t>
            </a:r>
          </a:p>
          <a:p/>
          <a:p>
            <a:r>
              <a:t>Contenu du .dockerignore de notre projet :</a:t>
            </a:r>
          </a:p>
          <a:p>
            <a:r>
              <a:t>  test.py        → les tests ne servent pas en production</a:t>
            </a:r>
          </a:p>
          <a:p>
            <a:r>
              <a:t>  readme.md      → la doc n'a pas besoin d'être dans l'image</a:t>
            </a:r>
          </a:p>
          <a:p>
            <a:r>
              <a:t>  .git*          → le dossier .git est TRÈS lourd (historique complet)</a:t>
            </a:r>
          </a:p>
          <a:p>
            <a:r>
              <a:t>  /venv          → l'environnement virtuel local est inutile (on installe via requirements.txt)</a:t>
            </a:r>
          </a:p>
          <a:p/>
          <a:p>
            <a:r>
              <a:t>POURQUOI C'EST IMPORTANT :</a:t>
            </a:r>
          </a:p>
          <a:p>
            <a:r>
              <a:t>1. Réduit la taille de l'image (le dossier .git peut faire des centaines de Mo)</a:t>
            </a:r>
          </a:p>
          <a:p>
            <a:r>
              <a:t>2. Accélère le build (moins de fichiers à copier)</a:t>
            </a:r>
          </a:p>
          <a:p>
            <a:r>
              <a:t>3. Sécurité (ne pas embarquer des fichiers sensibles comme .env)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7 : CI/CD — Le principe expliqué (slide rédigée)</a:t>
            </a:r>
          </a:p>
          <a:p/>
          <a:p>
            <a:r>
              <a:t>Cette slide est une explication RÉDIGÉE du CI/CD, complémentaire au schéma</a:t>
            </a:r>
          </a:p>
          <a:p>
            <a:r>
              <a:t>qui sera présenté à la slide suivante.</a:t>
            </a:r>
          </a:p>
          <a:p/>
          <a:p>
            <a:r>
              <a:t>POINTS CLÉS À SOULIGNER :</a:t>
            </a:r>
          </a:p>
          <a:p/>
          <a:p>
            <a:r>
              <a:t>1. LE CI/CD N'EST PAS UN OUTIL, C'EST UNE PRATIQUE :</a:t>
            </a:r>
          </a:p>
          <a:p>
            <a:r>
              <a:t>   C'est une philosophie de travail qui dit : "chaque modification de code</a:t>
            </a:r>
          </a:p>
          <a:p>
            <a:r>
              <a:t>   doit être validée automatiquement avant d'arriver en production".</a:t>
            </a:r>
          </a:p>
          <a:p>
            <a:r>
              <a:t>   L'outil (GitHub Actions, Jenkins, GitLab CI, etc.) n'est que le moyen.</a:t>
            </a:r>
          </a:p>
          <a:p/>
          <a:p>
            <a:r>
              <a:t>2. LA CI PROTÈGE CONTRE LES RÉGRESSIONS :</a:t>
            </a:r>
          </a:p>
          <a:p>
            <a:r>
              <a:t>   Sans CI, vous pouvez introduire un bug sans le savoir.</a:t>
            </a:r>
          </a:p>
          <a:p>
            <a:r>
              <a:t>   Avec CI, chaque push déclenche des tests automatiques.</a:t>
            </a:r>
          </a:p>
          <a:p>
            <a:r>
              <a:t>   Si un test échoue, vous êtes immédiatement alerté.</a:t>
            </a:r>
          </a:p>
          <a:p/>
          <a:p>
            <a:r>
              <a:t>3. LA CD ÉLIMINE LES DÉPLOIEMENTS MANUELS :</a:t>
            </a:r>
          </a:p>
          <a:p>
            <a:r>
              <a:t>   Sans CD, il faut se connecter au serveur, télécharger le code, installer, relancer...</a:t>
            </a:r>
          </a:p>
          <a:p>
            <a:r>
              <a:t>   Avec CD, tout est automatisé : build → tag → push → (optionnellement) deploy.</a:t>
            </a:r>
          </a:p>
          <a:p/>
          <a:p>
            <a:r>
              <a:t>4. DANS NOTRE PROJET CONCRET :</a:t>
            </a:r>
          </a:p>
          <a:p>
            <a:r>
              <a:t>   - CI = GitHub Actions exécute Black + Pylint + Pytest</a:t>
            </a:r>
          </a:p>
          <a:p>
            <a:r>
              <a:t>   - CD = GitHub Actions construit l'image Docker et la pousse sur Docker Hub</a:t>
            </a:r>
          </a:p>
          <a:p>
            <a:r>
              <a:t>   - Le tout est déclenché automatiquement à chaque git push sur main</a:t>
            </a:r>
          </a:p>
          <a:p/>
          <a:p>
            <a:r>
              <a:t>CE QUE L'UTILISATEUR DOIT CRÉER :</a:t>
            </a:r>
          </a:p>
          <a:p>
            <a:r>
              <a:t>→ Rien de spécifique à cette étape (c'est la compréhension).</a:t>
            </a:r>
          </a:p>
          <a:p>
            <a:r>
              <a:t>→ Le workflow YAML sera détaillé dans les slides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8 : Schéma CI/CD</a:t>
            </a:r>
          </a:p>
          <a:p/>
          <a:p>
            <a:r>
              <a:t>Cette slide complète la précédente (rédigée) avec un SCHÉMA VISUEL.</a:t>
            </a:r>
          </a:p>
          <a:p/>
          <a:p>
            <a:r>
              <a:t>COLONNE GAUCHE — CI (Intégration Continue) :</a:t>
            </a:r>
          </a:p>
          <a:p>
            <a:r>
              <a:t>Chaque étape est un "garde-fou" qui empêche le code défectueux d'avancer.</a:t>
            </a:r>
          </a:p>
          <a:p>
            <a:r>
              <a:t>1. Checkout : récupère le code depuis GitHub</a:t>
            </a:r>
          </a:p>
          <a:p>
            <a:r>
              <a:t>2. pip install : installe les mêmes dépendances que dans requirements.txt</a:t>
            </a:r>
          </a:p>
          <a:p>
            <a:r>
              <a:t>3. Black : reformate le code automatiquement (voir slide suivante)</a:t>
            </a:r>
          </a:p>
          <a:p>
            <a:r>
              <a:t>4. Pylint : analyse le code pour détecter des erreurs potentielles (voir slide suivante)</a:t>
            </a:r>
          </a:p>
          <a:p>
            <a:r>
              <a:t>5. Pytest : exécute les tests unitaires pour valider le comportement</a:t>
            </a:r>
          </a:p>
          <a:p/>
          <a:p>
            <a:r>
              <a:t>Si UNE SEULE étape échoue → tout le pipeline s'arrête → PAS DE DÉPLOIEMENT.</a:t>
            </a:r>
          </a:p>
          <a:p/>
          <a:p>
            <a:r>
              <a:t>COLONNE DROITE — CD (Livraison Continue) :</a:t>
            </a:r>
          </a:p>
          <a:p>
            <a:r>
              <a:t>Le CD ne s'exécute QUE si la CI a réussi (mot-clé "needs" dans le YAML).</a:t>
            </a:r>
          </a:p>
          <a:p>
            <a:r>
              <a:t>1. docker login : s'authentifie sur Docker Hub avec les secrets GitHub</a:t>
            </a:r>
          </a:p>
          <a:p>
            <a:r>
              <a:t>2. docker build : construit l'image à partir du Dockerfile</a:t>
            </a:r>
          </a:p>
          <a:p>
            <a:r>
              <a:t>3. tag : étiquette l'image avec la date (ex: 2026-02-27--30-15)</a:t>
            </a:r>
          </a:p>
          <a:p>
            <a:r>
              <a:t>4. docker push : envoie l'image sur Docker Hub</a:t>
            </a:r>
          </a:p>
          <a:p>
            <a:r>
              <a:t>5. (Optionnel) Déploiement direct sur AWS ECS</a:t>
            </a:r>
          </a:p>
          <a:p/>
          <a:p>
            <a:r>
              <a:t>CE QUE L'UTILISATEUR DOIT COMPRENDRE :</a:t>
            </a:r>
          </a:p>
          <a:p>
            <a:r>
              <a:t>→ La CI est un "filet de sécurité" : elle attrape les bugs avant la production.</a:t>
            </a:r>
          </a:p>
          <a:p>
            <a:r>
              <a:t>→ La CD est un "convoyeur automatique" : elle livre l'application sans intervention humaine.</a:t>
            </a:r>
          </a:p>
          <a:p>
            <a:r>
              <a:t>→ Les deux ensemble forment le pipeline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9 : Black &amp; Pylint</a:t>
            </a:r>
          </a:p>
          <a:p/>
          <a:p>
            <a:r>
              <a:t>BLACK — LE FORMATEUR DE CODE :</a:t>
            </a:r>
          </a:p>
          <a:p>
            <a:r>
              <a:t>Black est un outil qui reformate automatiquement votre code Python</a:t>
            </a:r>
          </a:p>
          <a:p>
            <a:r>
              <a:t>pour qu'il soit uniforme et lisible. C'est un "formateur sans compromis" :</a:t>
            </a:r>
          </a:p>
          <a:p>
            <a:r>
              <a:t>il ne vous laisse aucun choix de style — il impose le sien.</a:t>
            </a:r>
          </a:p>
          <a:p/>
          <a:p>
            <a:r>
              <a:t>Pourquoi c'est utile dans un pipeline CI/CD ?</a:t>
            </a:r>
          </a:p>
          <a:p>
            <a:r>
              <a:t>- Garantit que TOUT le code du projet suit le même style</a:t>
            </a:r>
          </a:p>
          <a:p>
            <a:r>
              <a:t>- Élimine les débats inutiles sur le formatage ("espaces vs tabulations", etc.)</a:t>
            </a:r>
          </a:p>
          <a:p>
            <a:r>
              <a:t>- Rend les revues de code plus faciles (on se concentre sur la logique)</a:t>
            </a:r>
          </a:p>
          <a:p/>
          <a:p>
            <a:r>
              <a:t>Exemple : Black va transformer</a:t>
            </a:r>
          </a:p>
          <a:p>
            <a:r>
              <a:t>  x=1+2</a:t>
            </a:r>
          </a:p>
          <a:p>
            <a:r>
              <a:t>en</a:t>
            </a:r>
          </a:p>
          <a:p>
            <a:r>
              <a:t>  x = 1 + 2</a:t>
            </a:r>
          </a:p>
          <a:p/>
          <a:p>
            <a:r>
              <a:t>CE QUE L'UTILISATEUR DOIT FAIRE :</a:t>
            </a:r>
          </a:p>
          <a:p>
            <a:r>
              <a:t>→ Installer Black : pip install black</a:t>
            </a:r>
          </a:p>
          <a:p>
            <a:r>
              <a:t>→ L'ajouter dans requirements.txt : black==25.9.0</a:t>
            </a:r>
          </a:p>
          <a:p/>
          <a:p>
            <a:r>
              <a:t>PYLINT — LE LINTER (ANALYSEUR STATIQUE) :</a:t>
            </a:r>
          </a:p>
          <a:p>
            <a:r>
              <a:t>Un "linter" est un outil qui analyse le code source SANS L'EXÉCUTER.</a:t>
            </a:r>
          </a:p>
          <a:p>
            <a:r>
              <a:t>Il cherche des erreurs potentielles, des mauvaises pratiques et des</a:t>
            </a:r>
          </a:p>
          <a:p>
            <a:r>
              <a:t>problèmes de style.</a:t>
            </a:r>
          </a:p>
          <a:p/>
          <a:p>
            <a:r>
              <a:t>Le mot "lint" vient de l'outil Unix original (1978) qui détectait</a:t>
            </a:r>
          </a:p>
          <a:p>
            <a:r>
              <a:t>les "peluches" (lint) dans le code C — les petits défauts faciles à manquer.</a:t>
            </a:r>
          </a:p>
          <a:p/>
          <a:p>
            <a:r>
              <a:t>L'option --disable=R,C dans notre pipeline désactive :</a:t>
            </a:r>
          </a:p>
          <a:p>
            <a:r>
              <a:t>- R = Refactoring (suggestions de refactorisation — trop strict pour un pipeline)</a:t>
            </a:r>
          </a:p>
          <a:p>
            <a:r>
              <a:t>- C = Convention (conventions de nommage — trop strict pour un pipeline)</a:t>
            </a:r>
          </a:p>
          <a:p>
            <a:r>
              <a:t>On garde les catégories E (Errors) et W (Warnings) qui sont les plus importantes.</a:t>
            </a:r>
          </a:p>
          <a:p/>
          <a:p>
            <a:r>
              <a:t>CE QUE L'UTILISATEUR DOIT FAIRE :</a:t>
            </a:r>
          </a:p>
          <a:p>
            <a:r>
              <a:t>→ Installer Pylint : pip install pylint</a:t>
            </a:r>
          </a:p>
          <a:p>
            <a:r>
              <a:t>→ L'ajouter dans requirements.txt : pylint==3.3.8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10 : GitHub Actions</a:t>
            </a:r>
          </a:p>
          <a:p/>
          <a:p>
            <a:r>
              <a:t>QU'EST-CE QUE GITHUB ACTIONS ?</a:t>
            </a:r>
          </a:p>
          <a:p>
            <a:r>
              <a:t>C'est un service d'automatisation INTÉGRÉ à GitHub. Vous n'avez rien à installer :</a:t>
            </a:r>
          </a:p>
          <a:p>
            <a:r>
              <a:t>il suffit de créer un fichier YAML dans le dossier .github/workflows/ de votre repo.</a:t>
            </a:r>
          </a:p>
          <a:p/>
          <a:p>
            <a:r>
              <a:t>COMMENT ÇA MARCHE ?</a:t>
            </a:r>
          </a:p>
          <a:p>
            <a:r>
              <a:t>1. Vous poussez du code sur GitHub (git push)</a:t>
            </a:r>
          </a:p>
          <a:p>
            <a:r>
              <a:t>2. GitHub détecte le push et vérifie s'il correspond à un déclencheur (trigger)</a:t>
            </a:r>
          </a:p>
          <a:p>
            <a:r>
              <a:t>3. Si oui, il lance une machine virtuelle (Runner) avec Ubuntu</a:t>
            </a:r>
          </a:p>
          <a:p>
            <a:r>
              <a:t>4. Le Runner exécute les étapes définies dans votre fichier YAML</a:t>
            </a:r>
          </a:p>
          <a:p>
            <a:r>
              <a:t>5. Le résultat (succès/échec) est visible dans l'onglet "Actions" de GitHub</a:t>
            </a:r>
          </a:p>
          <a:p/>
          <a:p>
            <a:r>
              <a:t>LES SECRETS — CE QUE L'UTILISATEUR DOIT CRÉER :</a:t>
            </a:r>
          </a:p>
          <a:p>
            <a:r>
              <a:t>→ Aller sur votre repository GitHub</a:t>
            </a:r>
          </a:p>
          <a:p>
            <a:r>
              <a:t>→ Settings → Secrets and variables → Actions</a:t>
            </a:r>
          </a:p>
          <a:p>
            <a:r>
              <a:t>→ Créer 3 secrets :</a:t>
            </a:r>
          </a:p>
          <a:p>
            <a:r>
              <a:t>   DOCKER_USER     = votre identifiant Docker Hub (ex: "monusername")</a:t>
            </a:r>
          </a:p>
          <a:p>
            <a:r>
              <a:t>   DOCKER_PASSWORD = votre token Docker Hub (PAS votre mot de passe !)</a:t>
            </a:r>
          </a:p>
          <a:p>
            <a:r>
              <a:t>   REPO_NAME       = le nom de votre repository Docker Hub (ex: "mlops-app")</a:t>
            </a:r>
          </a:p>
          <a:p/>
          <a:p>
            <a:r>
              <a:t>COMMENT CRÉER UN TOKEN DOCKER HUB :</a:t>
            </a:r>
          </a:p>
          <a:p>
            <a:r>
              <a:t>→ hub.docker.com → Account Settings → Security → New Access Token</a:t>
            </a:r>
          </a:p>
          <a:p>
            <a:r>
              <a:t>→ Nom : "github-actions"</a:t>
            </a:r>
          </a:p>
          <a:p>
            <a:r>
              <a:t>→ Permissions : Read &amp; Write</a:t>
            </a:r>
          </a:p>
          <a:p>
            <a:r>
              <a:t>→ COPIEZ LE TOKEN (il ne sera plus visible après !)</a:t>
            </a:r>
          </a:p>
          <a:p/>
          <a:p>
            <a:r>
              <a:t>IMPORTANT : ne mettez JAMAIS de mots de passe en clair dans le code.</a:t>
            </a:r>
          </a:p>
          <a:p>
            <a:r>
              <a:t>Les secrets GitHub sont chiffrés et ne s'affichent jamais dans les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11 : Paramétrer le workflow</a:t>
            </a:r>
          </a:p>
          <a:p/>
          <a:p>
            <a:r>
              <a:t>GUIDE PAS À PAS — CE QUE L'UTILISATEUR DOIT CRÉER :</a:t>
            </a:r>
          </a:p>
          <a:p/>
          <a:p>
            <a:r>
              <a:t>ÉTAPE 1 — Créer le dossier :</a:t>
            </a:r>
          </a:p>
          <a:p>
            <a:r>
              <a:t>  mkdir -p .github/workflows</a:t>
            </a:r>
          </a:p>
          <a:p>
            <a:r>
              <a:t>  Ce dossier DOIT être à la racine de votre repository Git.</a:t>
            </a:r>
          </a:p>
          <a:p>
            <a:r>
              <a:t>  Le nom est EXACTEMENT ".github/workflows" (avec le point devant github).</a:t>
            </a:r>
          </a:p>
          <a:p/>
          <a:p>
            <a:r>
              <a:t>ÉTAPE 2 — Créer le fichier YAML :</a:t>
            </a:r>
          </a:p>
          <a:p>
            <a:r>
              <a:t>  Créez un fichier .yaml ou .yml dans ce dossier.</a:t>
            </a:r>
          </a:p>
          <a:p>
            <a:r>
              <a:t>  Le nom du fichier peut être ce que vous voulez, mais doit finir par .yaml ou .yml.</a:t>
            </a:r>
          </a:p>
          <a:p>
            <a:r>
              <a:t>  Exemple : github-docker-cicd.yaml</a:t>
            </a:r>
          </a:p>
          <a:p/>
          <a:p>
            <a:r>
              <a:t>ÉTAPE 3 — Déclencheurs (on:) :</a:t>
            </a:r>
          </a:p>
          <a:p>
            <a:r>
              <a:t>  Le bloc "on:" définit QUAND le pipeline se déclenche.</a:t>
            </a:r>
          </a:p>
          <a:p>
            <a:r>
              <a:t>  push: branches: [main]  → à chaque push sur la branche main</a:t>
            </a:r>
          </a:p>
          <a:p>
            <a:r>
              <a:t>  pull_request: branches: [main]  → à chaque Pull Request vers main</a:t>
            </a:r>
          </a:p>
          <a:p>
            <a:r>
              <a:t>  Vous pouvez aussi utiliser : schedule (cron), workflow_dispatch (manuel), etc.</a:t>
            </a:r>
          </a:p>
          <a:p/>
          <a:p>
            <a:r>
              <a:t>ÉTAPE 4 — Variables d'environnement (env:) :</a:t>
            </a:r>
          </a:p>
          <a:p>
            <a:r>
              <a:t>  Déclarez ici les variables qui seront accessibles dans TOUS les jobs.</a:t>
            </a:r>
          </a:p>
          <a:p>
            <a:r>
              <a:t>  ${{secrets.NOM}} récupère la valeur du secret GitHub correspondant.</a:t>
            </a:r>
          </a:p>
          <a:p>
            <a:r>
              <a:t>  IMPORTANT : les secrets doivent être créés AVANT dans Settings → Secrets.</a:t>
            </a:r>
          </a:p>
          <a:p/>
          <a:p>
            <a:r>
              <a:t>ÉTAPE 5 — Job CI :</a:t>
            </a:r>
          </a:p>
          <a:p>
            <a:r>
              <a:t>  runs-on: ubuntu-latest → utilise une VM Ubuntu gratuite fournie par GitHub.</a:t>
            </a:r>
          </a:p>
          <a:p>
            <a:r>
              <a:t>  Les steps s'exécutent séquentiellement dans l'ordre.</a:t>
            </a:r>
          </a:p>
          <a:p>
            <a:r>
              <a:t>  uses: actions/checkout@v4 → action officielle pour cloner le repo.</a:t>
            </a:r>
          </a:p>
          <a:p>
            <a:r>
              <a:t>  uses: actions/setup-python@v4 → action pour installer Python.</a:t>
            </a:r>
          </a:p>
          <a:p/>
          <a:p>
            <a:r>
              <a:t>ÉTAPE 6 — Job CD :</a:t>
            </a:r>
          </a:p>
          <a:p>
            <a:r>
              <a:t>  needs: [ci_pipeline] → mot-clé CRUCIAL. Signifie que ce job attend</a:t>
            </a:r>
          </a:p>
          <a:p>
            <a:r>
              <a:t>  que ci_pipeline soit terminé ET ait réussi avant de démarrer.</a:t>
            </a:r>
          </a:p>
          <a:p>
            <a:r>
              <a:t>  Si la CI échoue, le CD ne s'exécute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12 : L'application ML</a:t>
            </a:r>
          </a:p>
          <a:p/>
          <a:p>
            <a:r>
              <a:t>LE PROJET CONCRET :</a:t>
            </a:r>
          </a:p>
          <a:p>
            <a:r>
              <a:t>Il s'agit d'une application web de prédiction de maladies cardiaques.</a:t>
            </a:r>
          </a:p>
          <a:p>
            <a:r>
              <a:t>Un patient remplit un formulaire avec 6 paramètres médicaux,</a:t>
            </a:r>
          </a:p>
          <a:p>
            <a:r>
              <a:t>et le modèle CatBoost prédit s'il y a un risque cardiaque (0 ou 1).</a:t>
            </a:r>
          </a:p>
          <a:p/>
          <a:p>
            <a:r>
              <a:t>CE QUE L'UTILISATEUR DOIT CRÉER :</a:t>
            </a:r>
          </a:p>
          <a:p/>
          <a:p>
            <a:r>
              <a:t>1. app.py — L'application Flask :</a:t>
            </a:r>
          </a:p>
          <a:p>
            <a:r>
              <a:t>   - Importe Flask, pickle, pandas</a:t>
            </a:r>
          </a:p>
          <a:p>
            <a:r>
              <a:t>   - Charge le modèle pré-entraîné (catboost_model-2.pkl)</a:t>
            </a:r>
          </a:p>
          <a:p>
            <a:r>
              <a:t>   - Définit 2 routes : GET / (formulaire) et POST /predict (prédiction)</a:t>
            </a:r>
          </a:p>
          <a:p>
            <a:r>
              <a:t>   - IMPORTANT : app.run(host="0.0.0.0", port=5000)</a:t>
            </a:r>
          </a:p>
          <a:p>
            <a:r>
              <a:t>     → "0.0.0.0" est OBLIGATOIRE pour Docker (pas "127.0.0.1")</a:t>
            </a:r>
          </a:p>
          <a:p/>
          <a:p>
            <a:r>
              <a:t>2. templates/index.html — Le formulaire :</a:t>
            </a:r>
          </a:p>
          <a:p>
            <a:r>
              <a:t>   - Créez un dossier templates/ avec un fichier index.html</a:t>
            </a:r>
          </a:p>
          <a:p>
            <a:r>
              <a:t>   - Le formulaire POST vers /predict</a:t>
            </a:r>
          </a:p>
          <a:p>
            <a:r>
              <a:t>   - 6 champs : Age, RestingBP, Cholesterol, FastingBS, MaxHR, Oldpeak</a:t>
            </a:r>
          </a:p>
          <a:p>
            <a:r>
              <a:t>   - Affiche le résultat via {{ prediction_text }}</a:t>
            </a:r>
          </a:p>
          <a:p/>
          <a:p>
            <a:r>
              <a:t>3. catboost_model-2.pkl — Le modèle :</a:t>
            </a:r>
          </a:p>
          <a:p>
            <a:r>
              <a:t>   - Fichier binaire du modèle pré-entraîné</a:t>
            </a:r>
          </a:p>
          <a:p>
            <a:r>
              <a:t>   - Entraîné sur le dataset Heart Failure de Kaggle</a:t>
            </a:r>
          </a:p>
          <a:p>
            <a:r>
              <a:t>   - Utilise l'algorithme CatBoost (gradient boosting)</a:t>
            </a:r>
          </a:p>
          <a:p/>
          <a:p>
            <a:r>
              <a:t>FLUX DE L'APPLICATION :</a:t>
            </a:r>
          </a:p>
          <a:p>
            <a:r>
              <a:t>Navigateur → GET / → Flask renvoie index.html → Utilisateur remplit le formulaire</a:t>
            </a:r>
          </a:p>
          <a:p>
            <a:r>
              <a:t>→ POST /predict → Flask récupère les 6 valeurs → model.predict() → résultat affiché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13 : Arborescence</a:t>
            </a:r>
          </a:p>
          <a:p/>
          <a:p>
            <a:r>
              <a:t>STRUCTURE COMPLÈTE DU PROJET — CE QUE L'UTILISATEUR DOIT CRÉER :</a:t>
            </a:r>
          </a:p>
          <a:p/>
          <a:p>
            <a:r>
              <a:t>DOSSIER .github/workflows/ (à créer par l'utilisateur) :</a:t>
            </a:r>
          </a:p>
          <a:p>
            <a:r>
              <a:t>  → github-docker-cicd.yaml : le pipeline CI/CD principal (ACTIF)</a:t>
            </a:r>
          </a:p>
          <a:p>
            <a:r>
              <a:t>  → aws.yml : le pipeline AWS (actuellement commenté)</a:t>
            </a:r>
          </a:p>
          <a:p/>
          <a:p>
            <a:r>
              <a:t>DOSSIER templates/ (à créer par l'utilisateur) :</a:t>
            </a:r>
          </a:p>
          <a:p>
            <a:r>
              <a:t>  → index.html : le formulaire web pour la saisie des paramètres médicaux</a:t>
            </a:r>
          </a:p>
          <a:p/>
          <a:p>
            <a:r>
              <a:t>FICHIERS À LA RACINE (tous à créer par l'utilisateur) :</a:t>
            </a:r>
          </a:p>
          <a:p>
            <a:r>
              <a:t>  → app.py : l'application Flask (cœur du projet)</a:t>
            </a:r>
          </a:p>
          <a:p>
            <a:r>
              <a:t>  → app_monitoring.py : version enrichie avec monitoring Arize (optionnel)</a:t>
            </a:r>
          </a:p>
          <a:p>
            <a:r>
              <a:t>  → catboost_model-2.pkl : le modèle ML pré-entraîné (fichier binaire)</a:t>
            </a:r>
          </a:p>
          <a:p>
            <a:r>
              <a:t>  → Dockerfile : instructions de containerisation</a:t>
            </a:r>
          </a:p>
          <a:p>
            <a:r>
              <a:t>  → .dockerignore : fichiers à exclure de l'image Docker</a:t>
            </a:r>
          </a:p>
          <a:p>
            <a:r>
              <a:t>  → .gitignore : fichiers à exclure du dépôt Git (contient "venv/")</a:t>
            </a:r>
          </a:p>
          <a:p>
            <a:r>
              <a:t>  → requirements.txt : liste des dépendances Python avec versions</a:t>
            </a:r>
          </a:p>
          <a:p>
            <a:r>
              <a:t>  → test.py : tests unitaires</a:t>
            </a:r>
          </a:p>
          <a:p/>
          <a:p>
            <a:r>
              <a:t>ORDRE DE CRÉATION RECOMMANDÉ :</a:t>
            </a:r>
          </a:p>
          <a:p>
            <a:r>
              <a:t>1. D'abord le code (app.py, templates/, modèle)</a:t>
            </a:r>
          </a:p>
          <a:p>
            <a:r>
              <a:t>2. Puis le Dockerfile et .dockerignore</a:t>
            </a:r>
          </a:p>
          <a:p>
            <a:r>
              <a:t>3. Puis les tests (test.py)</a:t>
            </a:r>
          </a:p>
          <a:p>
            <a:r>
              <a:t>4. Enfin le workflow (.github/workflows/)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14 : test.py &amp; requirements.txt</a:t>
            </a:r>
          </a:p>
          <a:p/>
          <a:p>
            <a:r>
              <a:t>test.py — CE QUE L'UTILISATEUR DOIT CRÉER :</a:t>
            </a:r>
          </a:p>
          <a:p/>
          <a:p>
            <a:r>
              <a:t>Le fichier test.py contient un test unitaire qui vérifie que le modèle fonctionne correctement.</a:t>
            </a:r>
          </a:p>
          <a:p/>
          <a:p>
            <a:r>
              <a:t>Explication du code :</a:t>
            </a:r>
          </a:p>
          <a:p>
            <a:r>
              <a:t>1. from app import model_pred → importe la fonction de prédiction depuis app.py</a:t>
            </a:r>
          </a:p>
          <a:p>
            <a:r>
              <a:t>2. new_data = {...} → crée un dictionnaire avec des données de test (un patient fictif)</a:t>
            </a:r>
          </a:p>
          <a:p>
            <a:r>
              <a:t>3. def test_predict() → fonction de test (pytest détecte automatiquement les fonctions commençant par "test_")</a:t>
            </a:r>
          </a:p>
          <a:p>
            <a:r>
              <a:t>4. assert pred == 1 → vérifie que la prédiction vaut 1 (risque cardiaque détecté pour ce patient)</a:t>
            </a:r>
          </a:p>
          <a:p/>
          <a:p>
            <a:r>
              <a:t>Si la prédiction est différente de 1, le test ÉCHOUE et le pipeline s'arrête.</a:t>
            </a:r>
          </a:p>
          <a:p/>
          <a:p>
            <a:r>
              <a:t>Pourquoi ce test est crucial :</a:t>
            </a:r>
          </a:p>
          <a:p>
            <a:r>
              <a:t>- Il vérifie que le modèle est bien chargé (pas de fichier .pkl manquant)</a:t>
            </a:r>
          </a:p>
          <a:p>
            <a:r>
              <a:t>- Il vérifie que la prédiction est correcte pour un cas connu</a:t>
            </a:r>
          </a:p>
          <a:p>
            <a:r>
              <a:t>- Il est exécuté à CHAQUE push, donc toute régression est détectée</a:t>
            </a:r>
          </a:p>
          <a:p/>
          <a:p>
            <a:r>
              <a:t>requirements.txt — CE QUE L'UTILISATEUR DOIT CRÉER :</a:t>
            </a:r>
          </a:p>
          <a:p>
            <a:r>
              <a:t>→ Un fichier texte listant TOUTES les dépendances Python avec leurs versions exactes.</a:t>
            </a:r>
          </a:p>
          <a:p>
            <a:r>
              <a:t>→ Chaque ligne : nom_du_package==version</a:t>
            </a:r>
          </a:p>
          <a:p>
            <a:r>
              <a:t>→ Les versions exactes (==) garantissent la reproductibilité.</a:t>
            </a:r>
          </a:p>
          <a:p/>
          <a:p>
            <a:r>
              <a:t>IMPORTANT : incluez AUSSI les outils de CI (pytest, pylint, black)</a:t>
            </a:r>
          </a:p>
          <a:p>
            <a:r>
              <a:t>car ils sont nécessaires dans le pipeline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15 : Pipeline CI détaillé</a:t>
            </a:r>
          </a:p>
          <a:p/>
          <a:p>
            <a:r>
              <a:t>CHAQUE ÉTAPE EXPLIQUÉE EN DÉTAIL :</a:t>
            </a:r>
          </a:p>
          <a:p/>
          <a:p>
            <a:r>
              <a:t>1. CHECKOUT (actions/checkout@v4) :</a:t>
            </a:r>
          </a:p>
          <a:p>
            <a:r>
              <a:t>   Action officielle GitHub qui clone votre repository sur le runner.</a:t>
            </a:r>
          </a:p>
          <a:p>
            <a:r>
              <a:t>   fetch-depth: 0 → récupère l'historique complet des commits.</a:t>
            </a:r>
          </a:p>
          <a:p>
            <a:r>
              <a:t>   Sans cette étape, le runner est une machine vierge sans votre code.</a:t>
            </a:r>
          </a:p>
          <a:p/>
          <a:p>
            <a:r>
              <a:t>2. SETUP PYTHON (actions/setup-python@v4) :</a:t>
            </a:r>
          </a:p>
          <a:p>
            <a:r>
              <a:t>   Installe Python 3.10 sur la VM Ubuntu du runner.</a:t>
            </a:r>
          </a:p>
          <a:p>
            <a:r>
              <a:t>   Le runner a déjà Python mais cette action garantit la bonne version.</a:t>
            </a:r>
          </a:p>
          <a:p>
            <a:r>
              <a:t>   python-version: '3.10' → doit correspondre à votre Dockerfile.</a:t>
            </a:r>
          </a:p>
          <a:p/>
          <a:p>
            <a:r>
              <a:t>3. INSTALL DEPENDENCIES :</a:t>
            </a:r>
          </a:p>
          <a:p>
            <a:r>
              <a:t>   pip install -r requirements.txt → installe TOUTES les dépendances.</a:t>
            </a:r>
          </a:p>
          <a:p>
            <a:r>
              <a:t>   Le "if [ -f requirements.txt ]" vérifie que le fichier existe avant d'installer.</a:t>
            </a:r>
          </a:p>
          <a:p>
            <a:r>
              <a:t>   C'est une bonne pratique défensive.</a:t>
            </a:r>
          </a:p>
          <a:p/>
          <a:p>
            <a:r>
              <a:t>4. FORMAT (BLACK) :</a:t>
            </a:r>
          </a:p>
          <a:p>
            <a:r>
              <a:t>   black app.py → reformate le fichier selon le standard Black.</a:t>
            </a:r>
          </a:p>
          <a:p>
            <a:r>
              <a:t>   Si le fichier était déjà bien formaté, rien ne change.</a:t>
            </a:r>
          </a:p>
          <a:p>
            <a:r>
              <a:t>   Si Black modifie le fichier, cela ne génère PAS d'erreur (il corrige silencieusement).</a:t>
            </a:r>
          </a:p>
          <a:p/>
          <a:p>
            <a:r>
              <a:t>5. LINT (PYLINT) :</a:t>
            </a:r>
          </a:p>
          <a:p>
            <a:r>
              <a:t>   pylint --disable=R,C app.py → analyse le code sans l'exécuter.</a:t>
            </a:r>
          </a:p>
          <a:p>
            <a:r>
              <a:t>   Si pylint détecte des erreurs (catégorie E) ou des avertissements (catégorie W),</a:t>
            </a:r>
          </a:p>
          <a:p>
            <a:r>
              <a:t>   le score sera trop bas et l'étape ÉCHOUERA → pipeline stoppé.</a:t>
            </a:r>
          </a:p>
          <a:p>
            <a:r>
              <a:t>   --disable=R,C désactive les catégories Refactoring et Convention (trop strictes).</a:t>
            </a:r>
          </a:p>
          <a:p/>
          <a:p>
            <a:r>
              <a:t>6. TEST (PYTEST) :</a:t>
            </a:r>
          </a:p>
          <a:p>
            <a:r>
              <a:t>   python -m pytest -vv test.py → exécute tous les tests.</a:t>
            </a:r>
          </a:p>
          <a:p>
            <a:r>
              <a:t>   -vv → mode très verbeux (affiche chaque test individuellement).</a:t>
            </a:r>
          </a:p>
          <a:p>
            <a:r>
              <a:t>   Si assert pred == 1 échoue → le test est KO → pipeline stoppé.</a:t>
            </a:r>
          </a:p>
          <a:p/>
          <a:p>
            <a:r>
              <a:t>RÈGLE D'OR : si UNE seule étape échoue, TOUT s'arrête. C'est le principe même de la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16 : Pipeline CD détaillé</a:t>
            </a:r>
          </a:p>
          <a:p/>
          <a:p>
            <a:r>
              <a:t>LE MOT-CLÉ needs: [ci_pipeline] :</a:t>
            </a:r>
          </a:p>
          <a:p>
            <a:r>
              <a:t>C'est la CLEF de la sécurité du pipeline. Il garantit que le CD ne démarre</a:t>
            </a:r>
          </a:p>
          <a:p>
            <a:r>
              <a:t>que si le CI a réussi. Si un seul test échoue dans la CI, le CD ne se lance PAS</a:t>
            </a:r>
          </a:p>
          <a:p>
            <a:r>
              <a:t>→ aucune image défectueuse ne sera poussée sur Docker Hub.</a:t>
            </a:r>
          </a:p>
          <a:p/>
          <a:p>
            <a:r>
              <a:t>ÉTAPE PAR ÉTAPE :</a:t>
            </a:r>
          </a:p>
          <a:p/>
          <a:p>
            <a:r>
              <a:t>1. CHECKOUT : même action que dans la CI. Nécessaire car le CD est un job</a:t>
            </a:r>
          </a:p>
          <a:p>
            <a:r>
              <a:t>   SÉPARÉ qui tourne sur un NOUVEAU runner (machine vierge).</a:t>
            </a:r>
          </a:p>
          <a:p/>
          <a:p>
            <a:r>
              <a:t>2. DOCKER LOGIN :</a:t>
            </a:r>
          </a:p>
          <a:p>
            <a:r>
              <a:t>   docker login -u $DOCKER_USER -p $DOCKER_PASSWORD</a:t>
            </a:r>
          </a:p>
          <a:p>
            <a:r>
              <a:t>   Se connecte à Docker Hub. Les variables $DOCKER_USER et $DOCKER_PASSWORD</a:t>
            </a:r>
          </a:p>
          <a:p>
            <a:r>
              <a:t>   proviennent des secrets GitHub (définis dans env:).</a:t>
            </a:r>
          </a:p>
          <a:p>
            <a:r>
              <a:t>   IMPORTANT : utilisez un ACCESS TOKEN, pas votre mot de passe Docker Hub.</a:t>
            </a:r>
          </a:p>
          <a:p/>
          <a:p>
            <a:r>
              <a:t>3. GET DATE :</a:t>
            </a:r>
          </a:p>
          <a:p>
            <a:r>
              <a:t>   Génère un tag unique basé sur l'horodatage. Format : YYYY-MM-DD--MM-SS.</a:t>
            </a:r>
          </a:p>
          <a:p>
            <a:r>
              <a:t>   ::set-output est la syntaxe GitHub Actions pour passer une valeur d'un step à un autre.</a:t>
            </a:r>
          </a:p>
          <a:p>
            <a:r>
              <a:t>   ${{ steps.date.outputs.date }} récupère cette valeur dans les steps suivants.</a:t>
            </a:r>
          </a:p>
          <a:p/>
          <a:p>
            <a:r>
              <a:t>4. BUILD IMAGE :</a:t>
            </a:r>
          </a:p>
          <a:p>
            <a:r>
              <a:t>   docker build . --file Dockerfile --tag $DOCKER_USER/$REPO_NAME:$date</a:t>
            </a:r>
          </a:p>
          <a:p>
            <a:r>
              <a:t>   Construit l'image en suivant les instructions du Dockerfile.</a:t>
            </a:r>
          </a:p>
          <a:p>
            <a:r>
              <a:t>   Le tag final ressemble à : monuser/monapp:2026-02-27--30-15.</a:t>
            </a:r>
          </a:p>
          <a:p/>
          <a:p>
            <a:r>
              <a:t>5. PUSH IMAGE :</a:t>
            </a:r>
          </a:p>
          <a:p>
            <a:r>
              <a:t>   docker push $DOCKER_USER/$REPO_NAME:$date</a:t>
            </a:r>
          </a:p>
          <a:p>
            <a:r>
              <a:t>   Envoie l'image sur Docker Hub. Elle est maintenant disponible publiquement.</a:t>
            </a:r>
          </a:p>
          <a:p>
            <a:r>
              <a:t>   N'importe qui peut faire docker pull monuser/monapp:2026-02-27--30-15.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17 : Vue d'ensemble du pipeline</a:t>
            </a:r>
          </a:p>
          <a:p/>
          <a:p>
            <a:r>
              <a:t>SCHÉMA COMPLET EN 5 BLOCS :</a:t>
            </a:r>
          </a:p>
          <a:p/>
          <a:p>
            <a:r>
              <a:t>DÉVELOPPEUR → Écrit le code et fait git push sur la branche main.</a:t>
            </a:r>
          </a:p>
          <a:p>
            <a:r>
              <a:t>CE QUE L'UTILISATEUR FAIT : git add . &amp;&amp; git commit -m "message" &amp;&amp; git push origin main</a:t>
            </a:r>
          </a:p>
          <a:p/>
          <a:p>
            <a:r>
              <a:t>GITHUB → Héberge le code et détecte le push. Déclenche GitHub Actions.</a:t>
            </a:r>
          </a:p>
          <a:p>
            <a:r>
              <a:t>CE QUE L'UTILISATEUR A CRÉÉ : le repository GitHub + les fichiers YAML dans .github/workflows/</a:t>
            </a:r>
          </a:p>
          <a:p/>
          <a:p>
            <a:r>
              <a:t>CI PIPELINE → Exécute automatiquement les 6 étapes (checkout, python, install, black, pylint, pytest).</a:t>
            </a:r>
          </a:p>
          <a:p>
            <a:r>
              <a:t>CE QUE L'UTILISATEUR A CRÉÉ : le fichier github-docker-cicd.yaml + test.py + requirements.txt</a:t>
            </a:r>
          </a:p>
          <a:p/>
          <a:p>
            <a:r>
              <a:t>CD PIPELINE → Si CI OK, construit l'image Docker et la pousse sur Docker Hub.</a:t>
            </a:r>
          </a:p>
          <a:p>
            <a:r>
              <a:t>CE QUE L'UTILISATEUR A CRÉÉ : le Dockerfile + les secrets GitHub (DOCKER_USER, DOCKER_PASSWORD, REPO_NAME)</a:t>
            </a:r>
          </a:p>
          <a:p/>
          <a:p>
            <a:r>
              <a:t>DOCKER HUB / AWS → Stocke l'image et la rend disponible pour le déploiement.</a:t>
            </a:r>
          </a:p>
          <a:p>
            <a:r>
              <a:t>CE QUE L'UTILISATEUR A CRÉÉ : un compte Docker Hub + un repository</a:t>
            </a:r>
          </a:p>
          <a:p/>
          <a:p>
            <a:r>
              <a:t>DEUX CHEMINS DE DÉPLOIEMENT :</a:t>
            </a:r>
          </a:p>
          <a:p>
            <a:r>
              <a:t>1. Docker Hub → docker pull → serveur quelconque (simple, universel)</a:t>
            </a:r>
          </a:p>
          <a:p>
            <a:r>
              <a:t>2. AWS ECR → ECS → déploiement managé (professionnel, scalable)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18 : AWS ECR &amp; ECS</a:t>
            </a:r>
          </a:p>
          <a:p/>
          <a:p>
            <a:r>
              <a:t>AWS ECR (Elastic Container Registry) :</a:t>
            </a:r>
          </a:p>
          <a:p>
            <a:r>
              <a:t>C'est le "Docker Hub d'Amazon" — un registre d'images Docker PRIVÉ.</a:t>
            </a:r>
          </a:p>
          <a:p>
            <a:r>
              <a:t>Contrairement à Docker Hub (public par défaut), ECR est privé et intégré à l'écosystème AWS.</a:t>
            </a:r>
          </a:p>
          <a:p/>
          <a:p>
            <a:r>
              <a:t>CE QUE L'UTILISATEUR DOIT CRÉER POUR AWS :</a:t>
            </a:r>
          </a:p>
          <a:p>
            <a:r>
              <a:t>→ Un compte AWS (aws.amazon.com)</a:t>
            </a:r>
          </a:p>
          <a:p>
            <a:r>
              <a:t>→ Un utilisateur IAM avec les droits ECR et ECS</a:t>
            </a:r>
          </a:p>
          <a:p>
            <a:r>
              <a:t>→ Les clés d'accès (AWS_ACCESS_KEY_ID et AWS_SECRET_ACCESS_KEY)</a:t>
            </a:r>
          </a:p>
          <a:p>
            <a:r>
              <a:t>→ Les ajouter comme secrets dans GitHub</a:t>
            </a:r>
          </a:p>
          <a:p>
            <a:r>
              <a:t>→ Un repository ECR : aws ecr create-repository --repository-name mlops-app</a:t>
            </a:r>
          </a:p>
          <a:p>
            <a:r>
              <a:t>→ Un cluster ECS : aws ecs create-cluster --cluster-name MlopsCluster</a:t>
            </a:r>
          </a:p>
          <a:p>
            <a:r>
              <a:t>→ Une Task Definition (description du container à lancer)</a:t>
            </a:r>
          </a:p>
          <a:p>
            <a:r>
              <a:t>→ Un Service ECS (maintient le container en vie)</a:t>
            </a:r>
          </a:p>
          <a:p/>
          <a:p>
            <a:r>
              <a:t>AWS ECS (Elastic Container Service) :</a:t>
            </a:r>
          </a:p>
          <a:p>
            <a:r>
              <a:t>C'est le service qui EXÉCUTE vos containers dans le cloud.</a:t>
            </a:r>
          </a:p>
          <a:p>
            <a:r>
              <a:t>Il gère automatiquement le démarrage, l'arrêt et le redémarrage des containers.</a:t>
            </a:r>
          </a:p>
          <a:p/>
          <a:p>
            <a:r>
              <a:t>Vocabulaire ECS :</a:t>
            </a:r>
          </a:p>
          <a:p>
            <a:r>
              <a:t>- Cluster = ensemble de ressources de calcul</a:t>
            </a:r>
          </a:p>
          <a:p>
            <a:r>
              <a:t>- Task Definition = "recette" du container (quelle image, combien de mémoire, quel port)</a:t>
            </a:r>
          </a:p>
          <a:p>
            <a:r>
              <a:t>- Task = instance d'un container en cours d'exécution</a:t>
            </a:r>
          </a:p>
          <a:p>
            <a:r>
              <a:t>- Service = maintient N tasks actives (redémarre si crash)</a:t>
            </a:r>
          </a:p>
          <a:p/>
          <a:p>
            <a:r>
              <a:t>Le fichier aws.yml est actuellement COMMENTÉ dans le projet.</a:t>
            </a:r>
          </a:p>
          <a:p>
            <a:r>
              <a:t>Pour l'activer, décommentez toutes les lignes et configurez les secrets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19 : Docker Hub vs AWS ECR</a:t>
            </a:r>
          </a:p>
          <a:p/>
          <a:p>
            <a:r>
              <a:t>QUAND UTILISER DOCKER HUB ?</a:t>
            </a:r>
          </a:p>
          <a:p>
            <a:r>
              <a:t>- Projets personnels et open source</a:t>
            </a:r>
          </a:p>
          <a:p>
            <a:r>
              <a:t>- Prototypage rapide</a:t>
            </a:r>
          </a:p>
          <a:p>
            <a:r>
              <a:t>- Partage public d'images</a:t>
            </a:r>
          </a:p>
          <a:p>
            <a:r>
              <a:t>- Budget limité (gratuit pour 1 repo privé)</a:t>
            </a:r>
          </a:p>
          <a:p/>
          <a:p>
            <a:r>
              <a:t>QUAND UTILISER AWS ECR ?</a:t>
            </a:r>
          </a:p>
          <a:p>
            <a:r>
              <a:t>- Projets d'entreprise / production</a:t>
            </a:r>
          </a:p>
          <a:p>
            <a:r>
              <a:t>- Quand vous utilisez déjà AWS (ECS, EKS, Lambda)</a:t>
            </a:r>
          </a:p>
          <a:p>
            <a:r>
              <a:t>- Besoin de sécurité renforcée (IAM, VPC)</a:t>
            </a:r>
          </a:p>
          <a:p>
            <a:r>
              <a:t>- Scan automatique des vulnérabilités</a:t>
            </a:r>
          </a:p>
          <a:p/>
          <a:p>
            <a:r>
              <a:t>PEUT-ON UTILISER LES DEUX ?</a:t>
            </a:r>
          </a:p>
          <a:p>
            <a:r>
              <a:t>Oui ! C'est même une pratique courante :</a:t>
            </a:r>
          </a:p>
          <a:p>
            <a:r>
              <a:t>- Docker Hub pour partager publiquement (open source)</a:t>
            </a:r>
          </a:p>
          <a:p>
            <a:r>
              <a:t>- AWS ECR pour le déploiement en production (privé, sécurisé)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20 : Guide pratique</a:t>
            </a:r>
          </a:p>
          <a:p/>
          <a:p>
            <a:r>
              <a:t>CE QUE L'UTILISATEUR DOIT CRÉER — RÉCAPITULATIF COMPLET :</a:t>
            </a:r>
          </a:p>
          <a:p/>
          <a:p>
            <a:r>
              <a:t>ÉTAPE 1 — PRÉREQUIS :</a:t>
            </a:r>
          </a:p>
          <a:p>
            <a:r>
              <a:t>→ Installer Git : git-scm.com (vérifier : git --version)</a:t>
            </a:r>
          </a:p>
          <a:p>
            <a:r>
              <a:t>→ Installer Docker Desktop : docker.com (vérifier : docker --version)</a:t>
            </a:r>
          </a:p>
          <a:p>
            <a:r>
              <a:t>→ Installer Python 3.10+ : python.org (vérifier : python --version)</a:t>
            </a:r>
          </a:p>
          <a:p>
            <a:r>
              <a:t>→ Créer un compte GitHub : github.com</a:t>
            </a:r>
          </a:p>
          <a:p>
            <a:r>
              <a:t>→ Créer un compte Docker Hub : hub.docker.com</a:t>
            </a:r>
          </a:p>
          <a:p/>
          <a:p>
            <a:r>
              <a:t>ÉTAPE 2 — REPOSITORY GITHUB :</a:t>
            </a:r>
          </a:p>
          <a:p>
            <a:r>
              <a:t>→ Créer le dossier projet avec tous les fichiers</a:t>
            </a:r>
          </a:p>
          <a:p>
            <a:r>
              <a:t>→ git init → git add . → git commit -m "Initial commit"</a:t>
            </a:r>
          </a:p>
          <a:p>
            <a:r>
              <a:t>→ Créer un repo sur GitHub (bouton "New repository")</a:t>
            </a:r>
          </a:p>
          <a:p>
            <a:r>
              <a:t>→ git remote add origin URL → git push -u origin main</a:t>
            </a:r>
          </a:p>
          <a:p/>
          <a:p>
            <a:r>
              <a:t>ÉTAPE 3 — TOKEN DOCKER HUB :</a:t>
            </a:r>
          </a:p>
          <a:p>
            <a:r>
              <a:t>→ Se connecter sur hub.docker.com</a:t>
            </a:r>
          </a:p>
          <a:p>
            <a:r>
              <a:t>→ Account Settings → Security → New Access Token</a:t>
            </a:r>
          </a:p>
          <a:p>
            <a:r>
              <a:t>→ Nom : "github-actions", Permissions : "Read &amp; Write"</a:t>
            </a:r>
          </a:p>
          <a:p>
            <a:r>
              <a:t>→ COPIER le token (il ne sera plus visible après !)</a:t>
            </a:r>
          </a:p>
          <a:p/>
          <a:p>
            <a:r>
              <a:t>ÉTAPE 4 — SECRETS GITHUB :</a:t>
            </a:r>
          </a:p>
          <a:p>
            <a:r>
              <a:t>→ Repository → Settings → Secrets and variables → Actions</a:t>
            </a:r>
          </a:p>
          <a:p>
            <a:r>
              <a:t>→ Créer 3 secrets : DOCKER_USER, DOCKER_PASSWORD, REPO_NAME</a:t>
            </a:r>
          </a:p>
          <a:p/>
          <a:p>
            <a:r>
              <a:t>ÉTAPE 5 — TEST LOCAL :</a:t>
            </a:r>
          </a:p>
          <a:p>
            <a:r>
              <a:t>→ docker build -t app:test .</a:t>
            </a:r>
          </a:p>
          <a:p>
            <a:r>
              <a:t>→ docker run -p 5000:5000 app:test</a:t>
            </a:r>
          </a:p>
          <a:p>
            <a:r>
              <a:t>→ Ouvrir http://localhost:5000 dans le navigateur</a:t>
            </a:r>
          </a:p>
          <a:p>
            <a:r>
              <a:t>→ Remplir le formulaire et vérifier que la prédiction fonctionne</a:t>
            </a:r>
          </a:p>
          <a:p/>
          <a:p>
            <a:r>
              <a:t>ÉTAPE 6 — VÉRIFICATION :</a:t>
            </a:r>
          </a:p>
          <a:p>
            <a:r>
              <a:t>→ git push origin main</a:t>
            </a:r>
          </a:p>
          <a:p>
            <a:r>
              <a:t>→ Aller sur GitHub → Actions → vérifier que le pipeline est vert</a:t>
            </a:r>
          </a:p>
          <a:p>
            <a:r>
              <a:t>→ Aller sur Docker Hub → vérifier que l'image est apparue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DU PRÉSENTATEUR — Slide 21 : Récapitulatif</a:t>
            </a:r>
          </a:p>
          <a:p/>
          <a:p>
            <a:r>
              <a:t>RÉSUMÉ DES 5 PILIERS :</a:t>
            </a:r>
          </a:p>
          <a:p/>
          <a:p>
            <a:r>
              <a:t>1. DOCKER : empaquète l'application + son environnement dans un container.</a:t>
            </a:r>
          </a:p>
          <a:p>
            <a:r>
              <a:t>   Fichiers créés : Dockerfile, .dockerignore, requirements.txt</a:t>
            </a:r>
          </a:p>
          <a:p/>
          <a:p>
            <a:r>
              <a:t>2. CI (Intégration Continue) : teste automatiquement le code à chaque push.</a:t>
            </a:r>
          </a:p>
          <a:p>
            <a:r>
              <a:t>   Fichiers créés : .github/workflows/github-docker-cicd.yaml, test.py</a:t>
            </a:r>
          </a:p>
          <a:p>
            <a:r>
              <a:t>   Outils : Black (formatage), Pylint (linting), Pytest (tests)</a:t>
            </a:r>
          </a:p>
          <a:p/>
          <a:p>
            <a:r>
              <a:t>3. CD (Livraison Continue) : construit et pousse l'image Docker automatiquement.</a:t>
            </a:r>
          </a:p>
          <a:p>
            <a:r>
              <a:t>   Configuration : secrets GitHub (DOCKER_USER, DOCKER_PASSWORD, REPO_NAME)</a:t>
            </a:r>
          </a:p>
          <a:p>
            <a:r>
              <a:t>   Résultat : image disponible sur Docker Hub</a:t>
            </a:r>
          </a:p>
          <a:p/>
          <a:p>
            <a:r>
              <a:t>4. AWS ECS/ECR : déploiement cloud professionnel.</a:t>
            </a:r>
          </a:p>
          <a:p>
            <a:r>
              <a:t>   Fichier : .github/workflows/aws.yml (actuellement commenté)</a:t>
            </a:r>
          </a:p>
          <a:p>
            <a:r>
              <a:t>   Services : ECR (registre), ECS (orchestrateur)</a:t>
            </a:r>
          </a:p>
          <a:p/>
          <a:p>
            <a:r>
              <a:t>5. MONITORING : surveillance du modèle ML en production.</a:t>
            </a:r>
          </a:p>
          <a:p>
            <a:r>
              <a:t>   Fichier : app_monitoring.py (version enrichie d'app.py)</a:t>
            </a:r>
          </a:p>
          <a:p>
            <a:r>
              <a:t>   Plateforme : Arize (data drift, performance, alertes)</a:t>
            </a:r>
          </a:p>
          <a:p/>
          <a:p>
            <a:r>
              <a:t>CE QUE L'UTILISATEUR A APPRIS :</a:t>
            </a:r>
          </a:p>
          <a:p>
            <a:r>
              <a:t>- Comprendre Docker et ses concepts (image, container, registry)</a:t>
            </a:r>
          </a:p>
          <a:p>
            <a:r>
              <a:t>- Écrire un Dockerfile et un .dockerignore</a:t>
            </a:r>
          </a:p>
          <a:p>
            <a:r>
              <a:t>- Comprendre CI/CD et ses bénéfices</a:t>
            </a:r>
          </a:p>
          <a:p>
            <a:r>
              <a:t>- Configurer GitHub Actions (workflow YAML, secrets)</a:t>
            </a:r>
          </a:p>
          <a:p>
            <a:r>
              <a:t>- Connaître Black (formateur) et Pylint (linter)</a:t>
            </a:r>
          </a:p>
          <a:p>
            <a:r>
              <a:t>- Déployer sur Docker Hub et AWS ECR/ECS</a:t>
            </a:r>
          </a:p>
          <a:p>
            <a:r>
              <a:t>- Mettre en place du monitoring ML</a:t>
            </a:r>
          </a:p>
          <a:p/>
          <a:p>
            <a:r>
              <a:t>PROCHAINES ÉTAPES SUGGÉRÉES :</a:t>
            </a:r>
          </a:p>
          <a:p>
            <a:r>
              <a:t>1. Reproduire le pipeline sur un projet personnel</a:t>
            </a:r>
          </a:p>
          <a:p>
            <a:r>
              <a:t>2. Ajouter plus de tests (couverture de code)</a:t>
            </a:r>
          </a:p>
          <a:p>
            <a:r>
              <a:t>3. Activer le pipeline AWS (décommenter aws.yml)</a:t>
            </a:r>
          </a:p>
          <a:p>
            <a:r>
              <a:t>4. Explorer le monitoring avec Arize ou MLflow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CI/CD, Docker &amp; Pipeline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Segoe UI"/>
              </a:defRPr>
            </a:pPr>
            <a:r>
              <a:t>Du code source au Cloud : de GitHub à Docker Hub et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3931920"/>
            <a:ext cx="2011680" cy="17373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&lt;/&gt;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GitHub</a:t>
            </a:r>
            <a:br/>
            <a:r>
              <a:t>Repository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4617720"/>
            <a:ext cx="457200" cy="228600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3931920"/>
            <a:ext cx="2011680" cy="17373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CI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Format + Lint</a:t>
            </a:r>
            <a:br/>
            <a:r>
              <a:t>+ Pytest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26480" y="4617720"/>
            <a:ext cx="457200" cy="228600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3931920"/>
            <a:ext cx="2011680" cy="17373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Build &amp; Push</a:t>
            </a:r>
            <a:br/>
            <a:r>
              <a:t>Image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95360" y="4617720"/>
            <a:ext cx="457200" cy="228600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3931920"/>
            <a:ext cx="2011680" cy="17373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Docker Hub</a:t>
            </a:r>
            <a:br/>
            <a:r>
              <a:t>&amp; 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0"/>
                </a:solidFill>
                <a:latin typeface="Segoe UI"/>
              </a:defRPr>
            </a:pPr>
            <a:r>
              <a:t>Basé sur le projet de Kaan Boke Ph.D. (Heartbeat)  |  DU Data Analytics  |  MLOps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1/21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Sommaire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44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Le problème : pourquoi CI/CD et Docker ?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1168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39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Docker : les fondamentaux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33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Le Dockerfile expliqué ligne par ligne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Layers Docker et .dockerignore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9476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22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CI/CD : concepts et principes (slide rédigée)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38912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4165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CI/CD : schéma des étapes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98348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10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Black &amp; Lint : définitions et rôle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444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GitHub Actions : le moteur du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1168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039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Paramétrer le workflow GitHub Actions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6060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33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Notre projet : application ML (CatBoost)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20040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227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Arborescence et rôle de chaque fichier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79476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822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test.py &amp; requirements.txt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38912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4165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Pipeline CI détaillé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498348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010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Pipeline CD détaillé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01 —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"Ça marche sur ma machine 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B0"/>
                </a:solidFill>
                <a:latin typeface="Segoe UI"/>
              </a:defRPr>
            </a:pPr>
            <a:r>
              <a:t>Le cauchemar classique du déploiement logiciel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486400" cy="43891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Segoe UI"/>
              </a:defRPr>
            </a:pPr>
            <a:r>
              <a:t>SANS Docker /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4937760" cy="10058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Développeur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Python 3.10, Flask 3.1, Ubuntu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MARCHE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4937760" cy="10058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Développeur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Python 3.9, Flask 2.0, macOS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BUG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4937760" cy="10058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Serveur 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Python 3.8, Flask 3.0, Amazon 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CRASH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20240"/>
            <a:ext cx="5486400" cy="43891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AVEC Docker + CI/CD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651760"/>
            <a:ext cx="4937760" cy="100584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Développeur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Container : Python 3.10, Flask 3.1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MARCHE 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886200"/>
            <a:ext cx="4937760" cy="100584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Développeur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70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Container : Python 3.10, Flask 3.1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MARCHE 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5120640"/>
            <a:ext cx="4937760" cy="100584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193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Serveur 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Container : Python 3.10, Flask 3.1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MARCHE 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02 — DOCKER : LES FONDAMENTAUX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Les 4 concepts clés de Docker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34747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103120" cy="54864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134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600"/>
                </a:solidFill>
                <a:latin typeface="Segoe UI"/>
              </a:defRPr>
            </a:pPr>
            <a:r>
              <a:t>"Recette de cuisine"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Fichier texte d'instructions</a:t>
            </a:r>
            <a:br/>
            <a:r>
              <a:t>pour construire l'image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017520"/>
            <a:ext cx="320040" cy="201168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51760" cy="34747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286000"/>
            <a:ext cx="2103120" cy="54864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3134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600"/>
                </a:solidFill>
                <a:latin typeface="Segoe UI"/>
              </a:defRPr>
            </a:pPr>
            <a:r>
              <a:t>"Plat congelé"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Template immutable, prête</a:t>
            </a:r>
            <a:br/>
            <a:r>
              <a:t>à être exécutée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3017520"/>
            <a:ext cx="320040" cy="201168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51760" cy="34747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Container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286000"/>
            <a:ext cx="2103120" cy="54864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134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600"/>
                </a:solidFill>
                <a:latin typeface="Segoe UI"/>
              </a:defRPr>
            </a:pPr>
            <a:r>
              <a:t>"Plat servi au client"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Instance en cours</a:t>
            </a:r>
            <a:br/>
            <a:r>
              <a:t>d'exécution d'une image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23960" y="3017520"/>
            <a:ext cx="320040" cy="201168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8280" y="1554480"/>
            <a:ext cx="2651760" cy="34747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Segoe UI"/>
              </a:defRPr>
            </a:pPr>
            <a:r>
              <a:t>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2286000"/>
            <a:ext cx="2103120" cy="54864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600"/>
                </a:solidFill>
                <a:latin typeface="Segoe UI"/>
              </a:defRPr>
            </a:pPr>
            <a:r>
              <a:t>"Supermarché"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Stockage &amp; distribution</a:t>
            </a:r>
            <a:br/>
            <a:r>
              <a:t>d'images (Docker Hub, ECR)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Flux :  docker build → IMAGE → docker run → CONTAINER → docker push → REGISTRY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E676"/>
                </a:solidFill>
                <a:latin typeface="Consolas"/>
              </a:defRPr>
            </a:pPr>
            <a:r>
              <a:t>docker build -t user/app:v1 .   |   docker run -p 5000:5000 user/app:v1   |   docker push user/app:v1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03 — LE DOCKERFILE EXPLIQUÉ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Dockerfile : chaque ligne décryptée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0292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Consolas"/>
              </a:defRPr>
            </a:pPr>
            <a:r>
              <a:t> 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86FC"/>
                </a:solidFill>
                <a:latin typeface="Consolas"/>
              </a:defRPr>
            </a:pPr>
            <a:r>
              <a:t>FROM python:3.10-slim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311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onsolas"/>
              </a:defRPr>
            </a:pPr>
            <a:r>
              <a:t>WORKDIR /app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3009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COPY .  /app/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onsolas"/>
              </a:defRPr>
            </a:pPr>
            <a:r>
              <a:t>RUN pip install 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083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onsolas"/>
              </a:defRPr>
            </a:pPr>
            <a:r>
              <a:t>  --no-cache-dir 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274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onsolas"/>
              </a:defRPr>
            </a:pPr>
            <a:r>
              <a:t>  -r 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84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600"/>
                </a:solidFill>
                <a:latin typeface="Consolas"/>
              </a:defRPr>
            </a:pPr>
            <a:r>
              <a:t>CMD ["python", "app.py"]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874519"/>
            <a:ext cx="5669280" cy="640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920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onsolas"/>
              </a:defRPr>
            </a:pPr>
            <a:r>
              <a:t>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3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Image de base Python 3.10 (version légère ~150 Mo)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606040"/>
            <a:ext cx="5669280" cy="640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651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WORKDIR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517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Crée et se positionne dans /app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337560"/>
            <a:ext cx="5669280" cy="640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383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onsolas"/>
              </a:defRPr>
            </a:pPr>
            <a:r>
              <a:t>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8327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Copie tous les fichiers locaux dans le container</a:t>
            </a:r>
            <a:br/>
            <a:r>
              <a:t>(sauf ceux dans .dockerignore)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251960"/>
            <a:ext cx="5669280" cy="640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onsolas"/>
              </a:defRPr>
            </a:pPr>
            <a: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2976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Installe toutes les dépendances Python</a:t>
            </a:r>
            <a:br/>
            <a:r>
              <a:t>lors de la construction de l'image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5440680"/>
            <a:ext cx="5669280" cy="6400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  <a:latin typeface="Consolas"/>
              </a:defRPr>
            </a:pPr>
            <a:r>
              <a:t>CMD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864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Commande exécutée au démarrage du container</a:t>
            </a:r>
            <a:br/>
            <a:r>
              <a:t>(lance l'application Flask)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04 — LAYERS &amp; .DOCKERIGNORE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Structure en couches &amp; fichiers exclus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Layers (couches empilées)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5029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CMD ["python","app.py"]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01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D600"/>
                </a:solidFill>
                <a:latin typeface="Segoe UI"/>
              </a:defRPr>
            </a:pPr>
            <a:r>
              <a:t>Layer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029200" cy="5029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RUN pip install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420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Layer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5029200" cy="5029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COPY . /app/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821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Layer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029200" cy="5029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WORKDIR /app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822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Layer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89120"/>
            <a:ext cx="5029200" cy="50292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FROM python:3.10-slim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4622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Layer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5029200" cy="109728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Segoe UI"/>
              </a:defRPr>
            </a:pPr>
            <a:r>
              <a:t>Avantage du cache :</a:t>
            </a:r>
            <a:br/>
            <a:r>
              <a:t>Si seul app.py change, Docker réutilise</a:t>
            </a:r>
            <a:br/>
            <a:r>
              <a:t>les layers 0 et 1 → Build ultra rapide 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.dockerignore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470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84708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24028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2585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app_monitoring.py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2585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65176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67004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requirements.txt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67004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06324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0815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catboost_model-2.pkl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0815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47472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4930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templates/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49300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86200"/>
            <a:ext cx="5029200" cy="347472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9044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Dockerfile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90448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✓ COPIÉ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97680"/>
            <a:ext cx="5029200" cy="347472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3159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test.py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3159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✗ EXCLU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709160"/>
            <a:ext cx="5029200" cy="347472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72744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readme.md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72744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✗ EXCLU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120640"/>
            <a:ext cx="5029200" cy="347472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1389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.git/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1389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✗ EXCLU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532120"/>
            <a:ext cx="5029200" cy="347472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55504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venv/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55040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✗ EXCLU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Réduit la taille de l'image et accélère le build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05 — CI/CD : LE PRINCIPE EXPLIQUÉ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Comprendre le CI/CD : pourquoi et comment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47120" cy="539496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Segoe UI"/>
              </a:defRPr>
            </a:pPr>
            <a:r>
              <a:t>Qu'est-ce que le CI/CD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Le CI/CD (Continuous Integration / Continuous Delivery) est une pratique fondamentale du développement logiciel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865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moderne. Son objectif : automatiser toutes les étapes entre l'écriture du code et sa mise en production,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afin de réduire les erreurs humaines, accélérer les livraisons et garantir la qualité du logiciel déployé.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CI — Intégration Continue (Continuous Integration)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34993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À chaque fois qu'un développeur pousse du code (git push) sur la branche principale, un processus automatique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1172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se déclenche. Ce processus récupère le code, installe les dépendances, formate le code (Black),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8845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sa qualité (Pylint) et exécute les tests unitaires (Pytest). Si l'une de ces étapes échoue, le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65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s'arrête immédiatement et le développeur est alerté. L'erreur est corrigée AVANT qu'elle n'atteigne la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516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CD — Livraison Continue (Continuous Delivery)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566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Si et seulement si toutes les étapes de la CI réussissent, le pipeline passe à la phase de livraison.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62395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Une image Docker est automatiquement construite (docker build), étiquetée avec la date du jour, puis poussée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739127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sur un registre d'images (Docker Hub ou AWS ECR). L'application est alors prête à être déployée sur n'importe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71158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quel serveur avec une simple commande docker pull. Optionnellement, le CD peut aussi déployer directement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7492593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l'application sur AWS ECS (déploiement continu).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797905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Segoe UI"/>
              </a:defRPr>
            </a:pPr>
            <a:r>
              <a:t>En résumé : le CI/CD transforme un processus manuel, risqué et lent en un flux automatisé, fiable et rapide.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06 — CI/CD : SCHÉMA DES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Continuous Integration / Continuous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577840" cy="48463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CI — Intégration 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À chaque push, automatiquement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5029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1.  Récupération du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249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73552"/>
            <a:ext cx="5029200" cy="5029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46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2.  Installation des dépendances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46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pip install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95344"/>
            <a:ext cx="5029200" cy="5029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684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3.  Formatage du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684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black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5029200" cy="5029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4.  Analyse statique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902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pylint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38928"/>
            <a:ext cx="5029200" cy="5029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5.  Exécution des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12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pytest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Segoe UI"/>
              </a:defRPr>
            </a:pPr>
            <a:r>
              <a:t>Objectif : détecter les erreurs le plus tôt possible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54480"/>
            <a:ext cx="5486400" cy="484632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Segoe UI"/>
              </a:defRPr>
            </a:pPr>
            <a:r>
              <a:t>CD — Livraison 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Si la CI réussit, automatiquement 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651760"/>
            <a:ext cx="4937760" cy="502920"/>
          </a:xfrm>
          <a:prstGeom prst="roundRect">
            <a:avLst/>
          </a:prstGeom>
          <a:solidFill>
            <a:srgbClr val="1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724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1.  Connexion au registre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724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docker login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273552"/>
            <a:ext cx="4937760" cy="502920"/>
          </a:xfrm>
          <a:prstGeom prst="roundRect">
            <a:avLst/>
          </a:prstGeom>
          <a:solidFill>
            <a:srgbClr val="1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3467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2.  Construction de l'image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34670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docker 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895344"/>
            <a:ext cx="4937760" cy="502920"/>
          </a:xfrm>
          <a:prstGeom prst="roundRect">
            <a:avLst/>
          </a:prstGeom>
          <a:solidFill>
            <a:srgbClr val="1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9684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3.  Étiquetage avec la 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9684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tag: 2026-02-27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517136"/>
            <a:ext cx="4937760" cy="502920"/>
          </a:xfrm>
          <a:prstGeom prst="roundRect">
            <a:avLst/>
          </a:prstGeom>
          <a:solidFill>
            <a:srgbClr val="1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590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4.  Push sur Docker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590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docker push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5138928"/>
            <a:ext cx="4937760" cy="502920"/>
          </a:xfrm>
          <a:prstGeom prst="roundRect">
            <a:avLst/>
          </a:prstGeom>
          <a:solidFill>
            <a:srgbClr val="1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5212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5.  (Opt.) Déploiement AWS ECS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aws ecs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06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Segoe UI"/>
              </a:defRPr>
            </a:pPr>
            <a:r>
              <a:t>Objectif : livrer automatiquement une version déployable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07 — BLACK &amp; LINT : DÉFINITIONS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Black &amp; Pylint : qualité du code automatisée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577840" cy="50292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Black — Formateur 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Qu'est-ce que c'est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Black est un formateur automatique de code Python.</a:t>
            </a:r>
            <a:br/>
            <a:r>
              <a:t>Il reformate votre code pour qu'il respecte un style</a:t>
            </a:r>
            <a:br/>
            <a:r>
              <a:t>uniforme et cohérent (basé sur PEP 8).</a:t>
            </a:r>
            <a:br/>
            <a:r>
              <a:t>Il ne change PAS la logique, uniquement la mise en forme.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Que fait-il concrètement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Uniformise l'indentation et les espaces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79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Reformate les longues lignes (max 88 caractères)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Normalise les guillemets (simples → doubles)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59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Ajoute/retire les virgules en fin de liste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Aligne les imports et les blocs de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5029200" cy="502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681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Commande :  black 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Segoe UI"/>
              </a:defRPr>
            </a:pPr>
            <a:r>
              <a:t>Slogan : "The uncompromising code formatter"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486400" cy="50292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Pylint — Analyseur statique (Linter)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Qu'est-ce que c'est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Pylint est un outil d'analyse statique pour Python.</a:t>
            </a:r>
            <a:br/>
            <a:r>
              <a:t>Il analyse votre code SANS l'exécuter pour détecter</a:t>
            </a:r>
            <a:br/>
            <a:r>
              <a:t>des erreurs potentielles, des mauvaises pratiques</a:t>
            </a:r>
            <a:br/>
            <a:r>
              <a:t>et des problèmes de style.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Que détecte-t-il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39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Variables non utilisées ou non définies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79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Imports manquants ou inutiles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8912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Fonctions trop complexes ou trop longues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59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Erreurs de type (ex: string + int)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29200"/>
            <a:ext cx="4754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Code dupliqué ou mort (jamais exécuté)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440680"/>
            <a:ext cx="4937760" cy="5029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4681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Commande :  pylint --disable=R,C app.py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035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Segoe UI"/>
              </a:defRPr>
            </a:pPr>
            <a:r>
              <a:t>--disable=R,C → désactive Refactoring et Convention (trop stricts)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08 — GITHUB ACTIONS : LE MOTEUR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GitHub Actions : automatisation intégrée à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0116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Repository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.github/workflows/</a:t>
            </a:r>
            <a:br/>
            <a:r>
              <a:t>   github-docker-cicd.yaml   (pipeline actif)</a:t>
            </a:r>
            <a:br/>
            <a:r>
              <a:t>   aws.yml                   (pipeline AWS)</a:t>
            </a:r>
            <a:br/>
            <a:r>
              <a:t>pipeline/</a:t>
            </a:r>
            <a:br/>
            <a:r>
              <a:t>   app.py, Dockerfile, test.py, ...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34640" y="3886200"/>
            <a:ext cx="365760" cy="457200"/>
          </a:xfrm>
          <a:prstGeom prst="down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434840"/>
            <a:ext cx="5303520" cy="13716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GitHub Actions Runner (machine virtuelle)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OS : ubuntu-latest</a:t>
            </a:r>
            <a:br/>
            <a:r>
              <a:t>Exécute les étapes définies dans le YAML</a:t>
            </a:r>
            <a:br/>
            <a:r>
              <a:t>Accès aux Secrets du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Configuration des Secrets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486400" cy="24688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onsolas"/>
              </a:defRPr>
            </a:pPr>
            <a:r>
              <a:t>Settings → Secrets →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377440"/>
            <a:ext cx="4937760" cy="411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Consolas"/>
              </a:defRPr>
            </a:pPr>
            <a:r>
              <a:t>DOCKER_USER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Votre username Docker 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880360"/>
            <a:ext cx="4937760" cy="411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Consolas"/>
              </a:defRPr>
            </a:pPr>
            <a:r>
              <a:t>DOCKER_PASSWORD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Token d'accès Docker 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383280"/>
            <a:ext cx="4937760" cy="4114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600"/>
                </a:solidFill>
                <a:latin typeface="Consolas"/>
              </a:defRPr>
            </a:pPr>
            <a:r>
              <a:t>REPO_NAME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Nom du repo sur Docker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onsolas"/>
              </a:defRPr>
            </a:pPr>
            <a:r>
              <a:t>Accès dans le YAML : ${{ secrets.DOCKER_USER 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Structure d'un fichier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5486400" cy="164592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9834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name: Mon Pipeline          # Nom</a:t>
            </a:r>
            <a:br/>
            <a:r>
              <a:t>on:                          # Déclencheurs</a:t>
            </a:r>
            <a:br/>
            <a:r>
              <a:t>  push: [main]              # Quand push</a:t>
            </a:r>
            <a:br/>
            <a:r>
              <a:t>jobs:                        # Travaux</a:t>
            </a:r>
            <a:br/>
            <a:r>
              <a:t>  job1:                      # Premier job</a:t>
            </a:r>
            <a:br/>
            <a:r>
              <a:t>    runs-on: ubuntu-latest</a:t>
            </a:r>
            <a:br/>
            <a:r>
              <a:t>    steps: [...]             # Étapes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09 — PARAMÉTRER LE WORKFLOW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Ce que vous devez créer et configurer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Créer le dossier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À la racine de votre projet, créez :</a:t>
            </a:r>
            <a:br/>
            <a:r>
              <a:t>.github/workflows/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mkdir -p .github/workflows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Créer le fichier 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Dans ce dossier, créez le fichier :</a:t>
            </a:r>
            <a:br/>
            <a:r>
              <a:t>github-docker-cicd.yaml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touch .github/workflows/</a:t>
            </a:r>
            <a:br/>
            <a:r>
              <a:t>  github-docker-cicd.yaml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Définir le nom et les déclencheurs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name: Mon Pipeline MLOps</a:t>
            </a:r>
            <a:br/>
            <a:r>
              <a:t>on:</a:t>
            </a:r>
            <a:br/>
            <a:r>
              <a:t>  push: branches: [main]</a:t>
            </a:r>
            <a:br/>
            <a:r>
              <a:t>  pull_request: branches: [main]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747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Déclenche le pipeline à</a:t>
            </a:r>
            <a:br/>
            <a:r>
              <a:t>chaque push ou PR sur 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6324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15468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Déclarer les variables d'env.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74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env:</a:t>
            </a:r>
            <a:br/>
            <a:r>
              <a:t>  DOCKER_USER: ${{secrets.DOCKER_USER}}</a:t>
            </a:r>
            <a:br/>
            <a:r>
              <a:t>  DOCKER_PASSWORD: ${{secrets.DOCKER_PASSWORD}}</a:t>
            </a:r>
            <a:br/>
            <a:r>
              <a:t>  REPO_NAME: ${{secrets.REPO_NAME}}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4747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Référence les secrets</a:t>
            </a:r>
            <a:br/>
            <a:r>
              <a:t>créés dans GitHub Settings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Définir le job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66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jobs:</a:t>
            </a:r>
            <a:br/>
            <a:r>
              <a:t>  ci_pipeline:</a:t>
            </a:r>
            <a:br/>
            <a:r>
              <a:t>    runs-on: ubuntu-latest</a:t>
            </a:r>
            <a:br/>
            <a:r>
              <a:t>    steps: checkout, python, install,</a:t>
            </a:r>
            <a:br/>
            <a:r>
              <a:t>           black, pylint, 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166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Chaque step est une</a:t>
            </a:r>
            <a:br/>
            <a:r>
              <a:t>étape séquentielle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754880"/>
            <a:ext cx="5577840" cy="15544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Segoe UI"/>
              </a:defRPr>
            </a:pPr>
            <a:r>
              <a:t>Définir le job 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66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  cd_pipeline:</a:t>
            </a:r>
            <a:br/>
            <a:r>
              <a:t>    needs: [ci_pipeline]</a:t>
            </a:r>
            <a:br/>
            <a:r>
              <a:t>    steps: checkout, docker login,</a:t>
            </a:r>
            <a:br/>
            <a:r>
              <a:t>           get date, build, push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5166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needs: attend la fin</a:t>
            </a:r>
            <a:br/>
            <a:r>
              <a:t>de la CI avant de lancer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10 — LE PROJET : APPLICATION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Prédiction de maladies cardiaques (CatBoost)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Modèle CatBoost + Flask + Docker  |  Basé sur le projet de Kaan Boke Ph.D.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65760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Segoe UI"/>
              </a:defRPr>
            </a:pPr>
            <a:r>
              <a:t>Formulaire Web (index.html)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61488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RestingBP (100-200)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Cholesterol (100-600)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12464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9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FastingBS (0 ou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87952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15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MaxHR (60-205)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3017520" cy="365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Oldpeak (0.0-6.2)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212080"/>
            <a:ext cx="13716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239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14800" y="3474720"/>
            <a:ext cx="73152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0" y="1737360"/>
            <a:ext cx="347472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Serveur Flask (app.py)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GET /     → index.html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807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POST /predict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2826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  → récupère les 6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75818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  → model.predict(features)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336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  → prédiction : 0 ou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  → renvoie le résultat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5303520"/>
            <a:ext cx="2926080" cy="6400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5349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Segoe UI"/>
              </a:defRPr>
            </a:pPr>
            <a:r>
              <a:t>host=0.0.0.0, port=5000</a:t>
            </a:r>
            <a:br/>
            <a:r>
              <a:t>Essentiel pour Docker !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03920" y="3474720"/>
            <a:ext cx="365760" cy="32004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1737360"/>
            <a:ext cx="2926080" cy="457200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Segoe UI"/>
              </a:defRPr>
            </a:pPr>
            <a:r>
              <a:t>Modèle CatBoost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catboost_model-2.pkl</a:t>
            </a:r>
            <a:br/>
            <a:br/>
            <a:r>
              <a:t>Algorithme :</a:t>
            </a:r>
            <a:br/>
            <a:r>
              <a:t>Gradient Boosting</a:t>
            </a:r>
            <a:br/>
            <a:br/>
            <a:r>
              <a:t>Dataset :</a:t>
            </a:r>
            <a:br/>
            <a:r>
              <a:t>Heart Failure</a:t>
            </a:r>
            <a:br/>
            <a:r>
              <a:t>(6 features médicales)</a:t>
            </a:r>
            <a:br/>
            <a:br/>
            <a:r>
              <a:t>Sortie :</a:t>
            </a:r>
            <a:br/>
            <a:r>
              <a:t>0 = Pas de risque</a:t>
            </a:r>
            <a:br/>
            <a:r>
              <a:t>1 = Risque cardiaque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11 — ARBORESCENCE DES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Arborescence et rôle de chaque fichier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572000" cy="50292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  pipeline/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Consolas"/>
              </a:defRPr>
            </a:pPr>
            <a:r>
              <a:t>.github/workflows/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  github-docker-cicd.yaml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58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  aws.yml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968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B86FC"/>
                </a:solidFill>
                <a:latin typeface="Segoe UI"/>
              </a:defRPr>
            </a:pPr>
            <a:r>
              <a:t>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352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Consolas"/>
              </a:defRPr>
            </a:pPr>
            <a:r>
              <a:t>templates/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  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735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35"/>
                </a:solidFill>
                <a:latin typeface="Segoe UI"/>
              </a:defRPr>
            </a:pPr>
            <a: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502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35"/>
                </a:solidFill>
                <a:latin typeface="Consolas"/>
              </a:defRPr>
            </a:pPr>
            <a:r>
              <a:t>app_monitoring.py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950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6B35"/>
                </a:solidFill>
                <a:latin typeface="Segoe UI"/>
              </a:defRPr>
            </a:pPr>
            <a:r>
              <a:t>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8853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catboost_model-2.pkl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288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D600"/>
                </a:solidFill>
                <a:latin typeface="Segoe UI"/>
              </a:defRPr>
            </a:pPr>
            <a:r>
              <a:t>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26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Dockerfile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6268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65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.dockerignore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651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0B0B0"/>
                </a:solidFill>
                <a:latin typeface="Segoe UI"/>
              </a:defRPr>
            </a:pPr>
            <a:r>
              <a:t>CONF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.gitignore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303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B0B0B0"/>
                </a:solidFill>
                <a:latin typeface="Segoe UI"/>
              </a:defRPr>
            </a:pPr>
            <a:r>
              <a:t>CONF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418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641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DEPS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017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Consolas"/>
              </a:defRPr>
            </a:pPr>
            <a:r>
              <a:t>test.py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98017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4545"/>
                </a:solidFill>
                <a:latin typeface="Segoe UI"/>
              </a:defRPr>
            </a:pPr>
            <a:r>
              <a:t>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63040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onsolas"/>
              </a:defRPr>
            </a:pPr>
            <a:r>
              <a:t>github-docker-cicd.yaml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8105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Pipeline principal CI/CD</a:t>
            </a:r>
            <a:br/>
            <a:r>
              <a:t>Format, Lint, Test → Build, Push Docker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331720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onsolas"/>
              </a:defRPr>
            </a:pPr>
            <a:r>
              <a:t>aws.yml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67919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Pipeline AWS (commenté)</a:t>
            </a:r>
            <a:br/>
            <a:r>
              <a:t>Build ECR → Deploy ECS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3200400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54787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Application Flask — Prédiction cardiaque</a:t>
            </a:r>
            <a:br/>
            <a:r>
              <a:t>Charge le modèle CatBoost, routes GET/POST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4069079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41147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onsolas"/>
              </a:defRPr>
            </a:pPr>
            <a:r>
              <a:t>test.py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416551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Test unitaire avec pytest</a:t>
            </a:r>
            <a:br/>
            <a:r>
              <a:t>Vérifie la prédiction du modèle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0" y="4937760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onsolas"/>
              </a:defRPr>
            </a:pPr>
            <a:r>
              <a:t>Dockerfile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528523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14 lignes : FROM, WORKDIR, COPY, RUN, CMD</a:t>
            </a:r>
            <a:br/>
            <a:r>
              <a:t>Crée l'image Docker de l'application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5806440"/>
            <a:ext cx="6400800" cy="77724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onsolas"/>
              </a:defRPr>
            </a:pPr>
            <a:r>
              <a:t>requirements.txt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61539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9 dépendances Python</a:t>
            </a:r>
            <a:br/>
            <a:r>
              <a:t>catboost, flask, pytest, pylint, black...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12 — TEST.PY &amp; REQUIREMENTS.TXT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Les tests : premier filet de sécurité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70"/>
                </a:solidFill>
                <a:latin typeface="Consolas"/>
              </a:defRPr>
            </a:pPr>
            <a:r>
              <a:t>  test.py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86FC"/>
                </a:solidFill>
                <a:latin typeface="Consolas"/>
              </a:defRPr>
            </a:pPr>
            <a:r>
              <a:t>from app import model_pred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new_data =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'Age': 68,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'RestingBP': 150,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'Cholesterol': 195,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'Oldpeak': 0.0,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'FastingBS': 1,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Consolas"/>
              </a:defRPr>
            </a:pPr>
            <a:r>
              <a:t>    'MaxHR': 132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onsolas"/>
              </a:defRPr>
            </a:pPr>
            <a:r>
              <a:t>def test_predict():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pred = model_pred(new_data)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120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Consolas"/>
              </a:defRPr>
            </a:pPr>
            <a:r>
              <a:t>    assert pred ==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Segoe UI"/>
              </a:defRPr>
            </a:pPr>
            <a:r>
              <a:t>Pourquoi tester est CRUCIAL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920240"/>
            <a:ext cx="5486400" cy="1188720"/>
          </a:xfrm>
          <a:prstGeom prst="roundRect">
            <a:avLst/>
          </a:prstGeom>
          <a:solidFill>
            <a:srgbClr val="2A1515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Segoe UI"/>
              </a:defRPr>
            </a:pPr>
            <a:r>
              <a:t>SANS tests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push → build → deploy → BUG EN PRODUCTION !</a:t>
            </a:r>
            <a:br/>
            <a:r>
              <a:t>Les utilisateurs voient l'erreur en premier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91840"/>
            <a:ext cx="5486400" cy="1188720"/>
          </a:xfrm>
          <a:prstGeom prst="roundRect">
            <a:avLst/>
          </a:prstGeom>
          <a:solidFill>
            <a:srgbClr val="0A2A15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AVEC tests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push → test → ÉCHEC → pipeline STOPPÉ</a:t>
            </a:r>
            <a:br/>
            <a:r>
              <a:t>Le développeur corrige AVANT le déploiement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requirements.txt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120640"/>
            <a:ext cx="5486400" cy="146304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60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catboost==1.2.8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Modèle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Flask==3.1.2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Serveur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23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pytest==8.4.2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623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623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pylint==3.3.8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5623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Linting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black==25.9.0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6035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Formatage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pandas==2.3.2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035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70"/>
                </a:solidFill>
                <a:latin typeface="Segoe UI"/>
              </a:defRPr>
            </a:pPr>
            <a:r>
              <a:t>DataFrames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13 — PIPELINE CI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Job CI : ci_pipeline (Intégration Continue)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Déclencheur : push ou pull_request sur main  |  Runner : ubuntu-latest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46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46504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Clone le repo avec historique complet</a:t>
            </a:r>
            <a:br/>
            <a:r>
              <a:t>(fetch-depth: 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96312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511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Setup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actions/setup-python@v4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51176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Installe Python 3.10 sur le runner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00984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Install deps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66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pip install -r requirements.txt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5584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Installe toutes les dépendances</a:t>
            </a:r>
            <a:br/>
            <a:r>
              <a:t>(catboost, flask, pytest, pylint, black...)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05656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242816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Format (black)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714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black app.py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60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Formate automatiquement le code</a:t>
            </a:r>
            <a:br/>
            <a:r>
              <a:t>selon le style PEP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10328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047488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65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Lint (pylint)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276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pylint --disable=R,C app.py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96519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Analyse statique du code</a:t>
            </a:r>
            <a:br/>
            <a:r>
              <a:t>--disable=R,C : ignore conventions et refactoring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15000"/>
            <a:ext cx="11247120" cy="713232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5852160"/>
            <a:ext cx="411480" cy="41148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769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Segoe UI"/>
              </a:defRPr>
            </a:pPr>
            <a:r>
              <a:t>Test (pytest)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6080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nsolas"/>
              </a:defRPr>
            </a:pPr>
            <a:r>
              <a:t>python -m pytest -vv test.py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769864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Exécute les tests unitaires</a:t>
            </a:r>
            <a:br/>
            <a:r>
              <a:t>-vv : mode verbose (détails complets)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537960"/>
            <a:ext cx="11247120" cy="27432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Segoe UI"/>
              </a:defRPr>
            </a:pPr>
            <a:r>
              <a:t>Si ÉCHEC à n'importe quelle étape → le pipeline s'arrête → pas de 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14 — PIPELINE CD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Job CD : cd_pipeline (Livraison Continue)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600"/>
                </a:solidFill>
                <a:latin typeface="Segoe UI"/>
              </a:defRPr>
            </a:pPr>
            <a:r>
              <a:t>Condition : needs: [ci_pipeline] → ne s'exécute QUE si la CI réussit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1247120" cy="82296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81051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Récupère le code source du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11247120" cy="82296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70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Docker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docker login -u $DOCKER_USER -p $DOCKER_PASSWORD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7063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Connexion à Docker Hub avec les secrets GitHub</a:t>
            </a:r>
            <a:br/>
            <a:r>
              <a:t>(jamais de mot de passe en clair 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11247120" cy="82296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30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Get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date +'%Y-%m-%d--%M-%S'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3075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Génère un tag unique basé sur la date</a:t>
            </a:r>
            <a:br/>
            <a:r>
              <a:t>Exemple : 2026-02-27--30-15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11247120" cy="82296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80060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Build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docker build . --tag $USER/$REPO:$date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69087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Construit l'image Docker à partir du Dockerfile</a:t>
            </a:r>
            <a:br/>
            <a:r>
              <a:t>Tag : username/reponame:2026-02-27--30-15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247120" cy="822960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76072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Push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989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onsolas"/>
              </a:defRPr>
            </a:pPr>
            <a:r>
              <a:t>docker push $USER/$REPO:$date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650992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Pousse l'image vers Docker Hub</a:t>
            </a:r>
            <a:br/>
            <a:r>
              <a:t>Image accessible à tous pour déploiement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537960"/>
            <a:ext cx="11247120" cy="274320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471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Résultat : image Docker disponible sur Docker Hub, prête à déployer partout 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600"/>
                </a:solidFill>
                <a:latin typeface="Segoe UI"/>
              </a:defRPr>
            </a:pPr>
            <a:r>
              <a:t>15 — PIPELINE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Vue d'ensemble : du git push au déploiement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1645920" cy="10972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Développeur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git push</a:t>
            </a:r>
            <a:br/>
            <a:r>
              <a:t>main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20240" y="2468880"/>
            <a:ext cx="457200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103120"/>
            <a:ext cx="1645920" cy="10972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14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Repository</a:t>
            </a:r>
            <a:br/>
            <a:r>
              <a:t>+ Actions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2468880"/>
            <a:ext cx="274320" cy="22860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00400" cy="41148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CI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103120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1396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1. 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06039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64261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2. Setup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108960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1455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3. Install deps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611880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648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4. Format (black)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114800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151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5. Lint (pylint)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617720"/>
            <a:ext cx="2834640" cy="384048"/>
          </a:xfrm>
          <a:prstGeom prst="roundRect">
            <a:avLst/>
          </a:prstGeom>
          <a:solidFill>
            <a:srgbClr val="0A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6542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6. Test (pytest)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52160" y="5166360"/>
            <a:ext cx="365760" cy="365760"/>
          </a:xfrm>
          <a:prstGeom prst="down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600"/>
                </a:solidFill>
                <a:latin typeface="Segoe UI"/>
              </a:defRPr>
            </a:pPr>
            <a:r>
              <a:t>Si tous 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5577840"/>
            <a:ext cx="3200400" cy="109728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623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CD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943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Login → Build → Tag → Push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680960" y="3200400"/>
            <a:ext cx="457200" cy="2286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2103120"/>
            <a:ext cx="1828800" cy="13716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194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Docker 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560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Image stockée</a:t>
            </a:r>
            <a:br/>
            <a:r>
              <a:t>user/repo:date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680960" y="4572000"/>
            <a:ext cx="457200" cy="22860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0" y="3931920"/>
            <a:ext cx="1828800" cy="13716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023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  <a:latin typeface="Segoe UI"/>
              </a:defRPr>
            </a:pPr>
            <a:r>
              <a:t>AWS ECR/ECS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3891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Déploiement</a:t>
            </a:r>
            <a:br/>
            <a:r>
              <a:t>production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058400" y="2743200"/>
            <a:ext cx="365760" cy="22860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10058400" y="4480560"/>
            <a:ext cx="365760" cy="22860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2926080"/>
            <a:ext cx="1463040" cy="22860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600"/>
                </a:solidFill>
                <a:latin typeface="Segoe UI"/>
              </a:defRPr>
            </a:pPr>
            <a:r>
              <a:t>Utilisateurs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383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Application</a:t>
            </a:r>
            <a:br/>
            <a:r>
              <a:t>accessible</a:t>
            </a:r>
            <a:br/>
            <a:r>
              <a:t>sur le web</a:t>
            </a:r>
            <a:br/>
            <a:br/>
            <a:r>
              <a:t>http://...:5000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Segoe UI"/>
              </a:defRPr>
            </a:pPr>
            <a:r>
              <a:t>16 — AWS : ECR &amp; 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AWS : l'écosystème Cloud pour les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27432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AWS ECR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Elastic Container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Équivalent de Docker Hub (privé)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Stocke vos images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18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Intégré avec IAM (sécurité)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65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Scan de vulnérabilités inclus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Pay-as-you-go (~0.10 $/Go/mois)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743200"/>
            <a:ext cx="457200" cy="22860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1554480"/>
            <a:ext cx="3657600" cy="27432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AWS ECS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Elastic Container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Orchestre les containers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706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Cluster = groupe de ressources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118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Task Def = quoi lancer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655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Service = maintient N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Segoe UI"/>
              </a:defRPr>
            </a:pPr>
            <a:r>
              <a:t>  • Auto-scaling, load balancing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12480" y="2743200"/>
            <a:ext cx="457200" cy="22860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554480"/>
            <a:ext cx="2743200" cy="274320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031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Accessible</a:t>
            </a:r>
            <a:br/>
            <a:r>
              <a:t>sur internet</a:t>
            </a:r>
            <a:br/>
            <a:br/>
            <a:r>
              <a:t>Scalable</a:t>
            </a:r>
            <a:br/>
            <a:r>
              <a:t>Monitorée</a:t>
            </a:r>
            <a:br/>
            <a:r>
              <a:t>Sécurisée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Pipeline aws.yml : flux de déploiement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507492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Configure AWS</a:t>
            </a:r>
            <a:br/>
            <a:r>
              <a:t>credentials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94560" y="5440680"/>
            <a:ext cx="228600" cy="164592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23160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68880" y="507492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Login ECR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60520" y="5440680"/>
            <a:ext cx="228600" cy="164592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89120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34840" y="507492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Build &amp; Push</a:t>
            </a:r>
            <a:br/>
            <a:r>
              <a:t>image ECR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126480" y="5440680"/>
            <a:ext cx="228600" cy="164592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79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799" y="507492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19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Download</a:t>
            </a:r>
            <a:br/>
            <a:r>
              <a:t>Task Def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092439" y="5440680"/>
            <a:ext cx="228600" cy="164592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21040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66760" y="507492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Update</a:t>
            </a:r>
            <a:br/>
            <a:r>
              <a:t>Task Def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058400" y="5440680"/>
            <a:ext cx="228600" cy="164592"/>
          </a:xfrm>
          <a:prstGeom prst="rightArrow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87000" y="5029200"/>
            <a:ext cx="1737360" cy="1097280"/>
          </a:xfrm>
          <a:prstGeom prst="roundRect">
            <a:avLst/>
          </a:prstGeom>
          <a:solidFill>
            <a:srgbClr val="1F2B4D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332720" y="507492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Deploy</a:t>
            </a:r>
            <a:br/>
            <a:r>
              <a:t>ECS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17 — 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Docker Hub vs AWS ECR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Critère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384048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90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Docker 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463040"/>
            <a:ext cx="3840480" cy="502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90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AWS ECR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011680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0574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Gratuit (1 repo privé)</a:t>
            </a:r>
            <a:br/>
            <a:r>
              <a:t>Pro : 5 $/mois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0574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~0.10 $/Go/mois</a:t>
            </a:r>
            <a:br/>
            <a:r>
              <a:t>+ transfert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0048"/>
            <a:ext cx="365760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670048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670048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7157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Repos privés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715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1 (gratuit)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715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Illimités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28416"/>
            <a:ext cx="365760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328416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328416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7413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Sécurité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37413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Basique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37413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IAM, VPC, chiffrement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86784"/>
            <a:ext cx="365760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986784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986784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3250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Intégration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40325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Universelle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0325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Optimisée AWS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45152"/>
            <a:ext cx="365760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4645152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79" y="4645152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6908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Scan vulnérab.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690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Payant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690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Intégré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303520"/>
            <a:ext cx="365760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5303520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79" y="5303520"/>
            <a:ext cx="3840480" cy="59436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49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Cas d'usage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5349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Open source</a:t>
            </a:r>
            <a:br/>
            <a:r>
              <a:t>Prototypage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53492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Production</a:t>
            </a:r>
            <a:br/>
            <a:r>
              <a:t>Entreprise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61888"/>
            <a:ext cx="365760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0" y="5961888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9" y="5961888"/>
            <a:ext cx="3840480" cy="59436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0076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Commande push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51960" y="60076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docker push</a:t>
            </a:r>
            <a:br/>
            <a:r>
              <a:t>user/repo:tag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60076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docker push</a:t>
            </a:r>
            <a:br/>
            <a:r>
              <a:t>account.dkr.ecr</a:t>
            </a:r>
            <a:br/>
            <a:r>
              <a:t>.region.amazonaws.com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Segoe UI"/>
              </a:defRPr>
            </a:pPr>
            <a:r>
              <a:t>18 — GUIDE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Reproduisez le pipeline en 6 étapes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Prérequis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Installer : Git, Docker Desktop,</a:t>
            </a:r>
            <a:br/>
            <a:r>
              <a:t>Python 3.10+</a:t>
            </a:r>
            <a:br/>
            <a:r>
              <a:t>Créer : compte GitHub, compte Docker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60020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Créer le repo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git init &amp;&amp; git remote add origin</a:t>
            </a:r>
            <a:br/>
            <a:r>
              <a:t>https://github.com/USER/REPO.git</a:t>
            </a:r>
            <a:br/>
            <a:r>
              <a:t>git push -u origin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Token Docker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11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hub.docker.com → Security →</a:t>
            </a:r>
            <a:br/>
            <a:r>
              <a:t>New Access Token</a:t>
            </a:r>
            <a:br/>
            <a:r>
              <a:t>Permissions : Read &amp; Write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5468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3291840"/>
            <a:ext cx="411480" cy="41148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Segoe UI"/>
              </a:defRPr>
            </a:pPr>
            <a:r>
              <a:t>Secrets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611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Settings → Secrets → Actions</a:t>
            </a:r>
            <a:br/>
            <a:r>
              <a:t>Créer : DOCKER_USER,</a:t>
            </a:r>
            <a:br/>
            <a:r>
              <a:t>DOCKER_PASSWORD, REPO_NAME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4983480"/>
            <a:ext cx="411480" cy="4114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  <a:latin typeface="Segoe UI"/>
              </a:defRPr>
            </a:pPr>
            <a:r>
              <a:t>Tester localement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docker build -t app:test .</a:t>
            </a:r>
            <a:br/>
            <a:r>
              <a:t>docker run -p 5000:5000 app:test</a:t>
            </a:r>
            <a:br/>
            <a:r>
              <a:t>Ouvrir http://localhost:5000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846320"/>
            <a:ext cx="5577840" cy="1508760"/>
          </a:xfrm>
          <a:prstGeom prst="roundRect">
            <a:avLst/>
          </a:prstGeom>
          <a:solidFill>
            <a:srgbClr val="1F2B4D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6520" y="4983480"/>
            <a:ext cx="411480" cy="4114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Pousser et vérifier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B0"/>
                </a:solidFill>
                <a:latin typeface="Consolas"/>
              </a:defRPr>
            </a:pPr>
            <a:r>
              <a:t>git push origin main</a:t>
            </a:r>
            <a:br/>
            <a:r>
              <a:t>GitHub → Actions → Observer</a:t>
            </a:r>
            <a:br/>
            <a:r>
              <a:t>Docker Hub → Vérifier l'image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Récapitulatif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73736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658368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48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Conteneurise votre application pour garantir</a:t>
            </a:r>
            <a:br/>
            <a:r>
              <a:t>un comportement identique partout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0360"/>
            <a:ext cx="9418320" cy="658368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CI (GitHub Actions)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Teste et valide automatiquement votre code</a:t>
            </a:r>
            <a:br/>
            <a:r>
              <a:t>à chaque push (format, lint, pytest)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9418320" cy="658368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Segoe UI"/>
              </a:defRPr>
            </a:pPr>
            <a:r>
              <a:t>CD (GitHub Actions)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03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Construit et pousse l'image Docker</a:t>
            </a:r>
            <a:br/>
            <a:r>
              <a:t>automatiquement sur Docker Hub / AWS ECR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434840"/>
            <a:ext cx="9418320" cy="658368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Segoe UI"/>
              </a:defRPr>
            </a:pPr>
            <a:r>
              <a:t>AWS ECS/ECR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805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Permet un déploiement cloud professionnel</a:t>
            </a:r>
            <a:br/>
            <a:r>
              <a:t>scalable, sécurisé et automatisé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212079"/>
            <a:ext cx="9418320" cy="658368"/>
          </a:xfrm>
          <a:prstGeom prst="roundRect">
            <a:avLst/>
          </a:prstGeom>
          <a:solidFill>
            <a:srgbClr val="1F2B4D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2577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25779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Arize surveille les performances du modèle ML</a:t>
            </a:r>
            <a:br/>
            <a:r>
              <a:t>pour détecter drift et anomalies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6126480"/>
            <a:ext cx="3931920" cy="36576"/>
          </a:xfrm>
          <a:prstGeom prst="rect">
            <a:avLst/>
          </a:prstGeom>
          <a:solidFill>
            <a:srgbClr val="6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0"/>
                </a:solidFill>
                <a:latin typeface="Segoe UI"/>
              </a:defRPr>
            </a:pPr>
            <a:r>
              <a:t>Source : Kaan Boke Ph.D. — Heartbeat  |  DU Data Analytics — MLOps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6070"/>
                </a:solidFill>
                <a:latin typeface="Segoe UI"/>
              </a:defRPr>
            </a:pPr>
            <a:r>
              <a:t>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